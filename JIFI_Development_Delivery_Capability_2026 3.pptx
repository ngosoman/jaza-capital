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JIFI Capability Deck 2026
- Internal: Jaza Capital JIFI Data Collection and Feasibility Report, August 2026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JIFI Capability Deck 2026, slides 2–3
- Internal: Jaza Capital JIFI Data Collection and Feasibility Report, sections 4, 6 and 10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JIFI consolidated review and repositioning discussion
- Internal: JIFI Capability Deck 2026, slides 4, 14 and 16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JIFI strategic repositioning discussion, initial six-pillar model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JIFI Capability Deck 2026, slides 9, 10 and 13
- Internal: Jaza Capital JIFI Data Collection and Feasibility Report, sections 7 and 10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JIFI Capability Deck 2026, slides 10–12
- Internal: Jaza Capital JIFI Data Collection and Feasibility Report, sections 4, 7 and 11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JIFI Capability Deck 2026, slides 6–8
- Internal: Jaza Capital JIFI Data Collection and Feasibility Report, sections 6–8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JIFI Capability Deck 2026, slides 3 and 13
- Internal: Jaza Capital JIFI Data Collection and Feasibility Report, sections 4, 9 and 10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JIFI Capability Deck 2026, slides 8, 10, 13 and 15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JIFI Capability Deck 2026, slide 14
- Internal: Jaza Capital JIFI Data Collection and Feasibility Report, sections 9–12
- FCDO Programme Operating Framework and Supply Partner Code principles as summarised in the thread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JIFI strategic repositioning discussion, DELIVERS framework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JIFI Capability Deck 2026, slide 9
- Internal: Jaza Capital JIFI Data Collection and Feasibility Report, section 4.3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JIFI Capability Deck 2026, slide 11
- Internal: Jaza Capital JIFI Data Collection and Feasibility Report, sections 9 and 11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JIFI Capability Deck 2026, slide 5
- Internal: Jaza Capital JIFI Data Collection and Feasibility Report, executive summary and sections 3, 5 and 12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JIFI Capability Deck 2026, slides 13–14
- Internal: Jaza Capital JIFI Data Collection and Feasibility Report, section 10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JIFI Capability Deck 2026, slide 16
- Internal: JIFI consolidated readiness assessment and commissioning recommendations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Internal: JIFI Capability Deck 2026, slide 17
- Internal: JIFI strategic repositioning discussion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463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123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JIFI  |  DEVELOPMENT DELIVERY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256032" y="6601968"/>
            <a:ext cx="5303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B7C76"/>
                </a:solidFill>
              </a:rPr>
              <a:t>Inclusive enterprise • resilient livelihoods • community prosperity</a:t>
            </a:r>
            <a:endParaRPr lang="en-US" sz="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123E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49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463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FFFFFF"/>
                </a:solidFill>
              </a:rPr>
              <a:t>JIFI  |  DEVELOPMENT DELIVERY</a:t>
            </a:r>
            <a:endParaRPr lang="en-US" sz="680" dirty="0"/>
          </a:p>
        </p:txBody>
      </p:sp>
      <p:sp>
        <p:nvSpPr>
          <p:cNvPr id="3" name="Text 1"/>
          <p:cNvSpPr/>
          <p:nvPr/>
        </p:nvSpPr>
        <p:spPr>
          <a:xfrm>
            <a:off x="256032" y="6601968"/>
            <a:ext cx="5303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D7E5DE"/>
                </a:solidFill>
              </a:rPr>
              <a:t>Inclusive enterprise • resilient livelihoods • community prosperity</a:t>
            </a:r>
            <a:endParaRPr lang="en-US" sz="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123E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3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3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3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3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jifi_redesign_work/media/image1.jpeg"/>
          <p:cNvPicPr>
            <a:picLocks noChangeAspect="1"/>
          </p:cNvPicPr>
          <p:nvPr/>
        </p:nvPicPr>
        <p:blipFill>
          <a:blip r:embed="rId3"/>
          <a:srcRect l="20100" r="20100"/>
          <a:stretch/>
        </p:blipFill>
        <p:spPr>
          <a:xfrm>
            <a:off x="6720840" y="0"/>
            <a:ext cx="54681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20840" y="6601968"/>
            <a:ext cx="5468112" cy="256032"/>
          </a:xfrm>
          <a:prstGeom prst="rect">
            <a:avLst/>
          </a:prstGeom>
          <a:solidFill>
            <a:srgbClr val="0E493C">
              <a:alpha val="90000"/>
            </a:srgbClr>
          </a:solidFill>
          <a:ln w="12700">
            <a:solidFill>
              <a:srgbClr val="0E493C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12280" y="6684264"/>
            <a:ext cx="528523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" dirty="0">
                <a:solidFill>
                  <a:srgbClr val="FFFFFF"/>
                </a:solidFill>
              </a:rPr>
              <a:t>Jaza field engagement | Kenya, 2026</a:t>
            </a:r>
            <a:endParaRPr lang="en-US" sz="520" dirty="0"/>
          </a:p>
        </p:txBody>
      </p:sp>
      <p:sp>
        <p:nvSpPr>
          <p:cNvPr id="5" name="Shape 2"/>
          <p:cNvSpPr/>
          <p:nvPr/>
        </p:nvSpPr>
        <p:spPr>
          <a:xfrm>
            <a:off x="6720840" y="0"/>
            <a:ext cx="5468112" cy="6858000"/>
          </a:xfrm>
          <a:prstGeom prst="rect">
            <a:avLst/>
          </a:prstGeom>
          <a:solidFill>
            <a:srgbClr val="0E493C">
              <a:alpha val="68000"/>
            </a:srgbClr>
          </a:solidFill>
          <a:ln w="12700">
            <a:solidFill>
              <a:srgbClr val="0E493C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0352" y="6858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DE1D6"/>
                </a:solidFill>
              </a:rPr>
              <a:t>JAZA INCLUSIVE FINANCE INITIATIVE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30352" y="1234440"/>
            <a:ext cx="55778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Improving livelihoods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through inclusive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enterprise and markets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30352" y="3886200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CE9E3"/>
                </a:solidFill>
              </a:rPr>
              <a:t>A locally embedded development delivery platform combining finance, enterprise capability, market systems and evidence.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30352" y="4983480"/>
            <a:ext cx="2514600" cy="292608"/>
          </a:xfrm>
          <a:prstGeom prst="roundRect">
            <a:avLst>
              <a:gd name="adj" fmla="val 25000"/>
            </a:avLst>
          </a:prstGeom>
          <a:solidFill>
            <a:srgbClr val="2B6659"/>
          </a:solidFill>
          <a:ln w="12700">
            <a:solidFill>
              <a:srgbClr val="2B665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3504" y="5047488"/>
            <a:ext cx="2368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DEVELOPMENT DELIVERY CAPABILITY • 2026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23E33"/>
                </a:solidFill>
              </a:rPr>
              <a:t>Why JIFI: access alone does not secure better livelihoods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D55"/>
                </a:solidFill>
              </a:rPr>
              <a:t>The development challenge is to convert finance into productive, resilient and inclusive economic opportunity.</a:t>
            </a:r>
            <a:endParaRPr lang="en-US" sz="1050" dirty="0"/>
          </a:p>
        </p:txBody>
      </p:sp>
      <p:pic>
        <p:nvPicPr>
          <p:cNvPr id="4" name="Image 0" descr="/mnt/data/jifi_redesign_work/media/image3.jpeg"/>
          <p:cNvPicPr>
            <a:picLocks noChangeAspect="1"/>
          </p:cNvPicPr>
          <p:nvPr/>
        </p:nvPicPr>
        <p:blipFill>
          <a:blip r:embed="rId3"/>
          <a:srcRect l="14148" r="14148"/>
          <a:stretch/>
        </p:blipFill>
        <p:spPr>
          <a:xfrm>
            <a:off x="502920" y="1600200"/>
            <a:ext cx="3977640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5504688"/>
            <a:ext cx="3977640" cy="256032"/>
          </a:xfrm>
          <a:prstGeom prst="rect">
            <a:avLst/>
          </a:prstGeom>
          <a:solidFill>
            <a:srgbClr val="0E493C">
              <a:alpha val="90000"/>
            </a:srgbClr>
          </a:solidFill>
          <a:ln w="12700">
            <a:solidFill>
              <a:srgbClr val="0E493C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5586984"/>
            <a:ext cx="37947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" dirty="0">
                <a:solidFill>
                  <a:srgbClr val="FFFFFF"/>
                </a:solidFill>
              </a:rPr>
              <a:t>Enterprise engagement | Kenya, 2026</a:t>
            </a:r>
            <a:endParaRPr lang="en-US" sz="520" dirty="0"/>
          </a:p>
        </p:txBody>
      </p:sp>
      <p:sp>
        <p:nvSpPr>
          <p:cNvPr id="7" name="Shape 4"/>
          <p:cNvSpPr/>
          <p:nvPr/>
        </p:nvSpPr>
        <p:spPr>
          <a:xfrm>
            <a:off x="4709160" y="1600200"/>
            <a:ext cx="31546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709160" y="1600200"/>
            <a:ext cx="54864" cy="114300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73752" y="173736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Financial vulnerability</a:t>
            </a:r>
            <a:endParaRPr lang="en-US" sz="1060" dirty="0"/>
          </a:p>
        </p:txBody>
      </p:sp>
      <p:sp>
        <p:nvSpPr>
          <p:cNvPr id="10" name="Text 7"/>
          <p:cNvSpPr/>
          <p:nvPr/>
        </p:nvSpPr>
        <p:spPr>
          <a:xfrm>
            <a:off x="4873752" y="2057400"/>
            <a:ext cx="284378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Savings buffers, debt stress and irregular income constrain investment and resilience.</a:t>
            </a:r>
            <a:endParaRPr lang="en-US" sz="840" dirty="0"/>
          </a:p>
        </p:txBody>
      </p:sp>
      <p:sp>
        <p:nvSpPr>
          <p:cNvPr id="11" name="Shape 8"/>
          <p:cNvSpPr/>
          <p:nvPr/>
        </p:nvSpPr>
        <p:spPr>
          <a:xfrm>
            <a:off x="8092440" y="1600200"/>
            <a:ext cx="35661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092440" y="1600200"/>
            <a:ext cx="54864" cy="1143000"/>
          </a:xfrm>
          <a:prstGeom prst="rect">
            <a:avLst/>
          </a:prstGeom>
          <a:solidFill>
            <a:srgbClr val="1F6A52"/>
          </a:solidFill>
          <a:ln w="12700">
            <a:solidFill>
              <a:srgbClr val="1F6A5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57032" y="17373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Enterprise constraints</a:t>
            </a:r>
            <a:endParaRPr lang="en-US" sz="1060" dirty="0"/>
          </a:p>
        </p:txBody>
      </p:sp>
      <p:sp>
        <p:nvSpPr>
          <p:cNvPr id="14" name="Text 11"/>
          <p:cNvSpPr/>
          <p:nvPr/>
        </p:nvSpPr>
        <p:spPr>
          <a:xfrm>
            <a:off x="8257032" y="2057400"/>
            <a:ext cx="325526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Weak records, limited capability and unsuitable finance restrict sustainable business growth.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4709160" y="2971800"/>
            <a:ext cx="31546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09160" y="2971800"/>
            <a:ext cx="54864" cy="114300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73752" y="310896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Fragmented markets</a:t>
            </a:r>
            <a:endParaRPr lang="en-US" sz="1060" dirty="0"/>
          </a:p>
        </p:txBody>
      </p:sp>
      <p:sp>
        <p:nvSpPr>
          <p:cNvPr id="18" name="Text 15"/>
          <p:cNvSpPr/>
          <p:nvPr/>
        </p:nvSpPr>
        <p:spPr>
          <a:xfrm>
            <a:off x="4873752" y="3429000"/>
            <a:ext cx="284378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Enterprises struggle to reach buyers, suppliers, standards and reliable transaction pathways.</a:t>
            </a:r>
            <a:endParaRPr lang="en-US" sz="840" dirty="0"/>
          </a:p>
        </p:txBody>
      </p:sp>
      <p:sp>
        <p:nvSpPr>
          <p:cNvPr id="19" name="Shape 16"/>
          <p:cNvSpPr/>
          <p:nvPr/>
        </p:nvSpPr>
        <p:spPr>
          <a:xfrm>
            <a:off x="8092440" y="2971800"/>
            <a:ext cx="35661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092440" y="2971800"/>
            <a:ext cx="54864" cy="1143000"/>
          </a:xfrm>
          <a:prstGeom prst="rect">
            <a:avLst/>
          </a:prstGeom>
          <a:solidFill>
            <a:srgbClr val="D8A02B"/>
          </a:solidFill>
          <a:ln w="12700">
            <a:solidFill>
              <a:srgbClr val="D8A0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57032" y="31089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Unequal opportunity</a:t>
            </a:r>
            <a:endParaRPr lang="en-US" sz="1060" dirty="0"/>
          </a:p>
        </p:txBody>
      </p:sp>
      <p:sp>
        <p:nvSpPr>
          <p:cNvPr id="22" name="Text 19"/>
          <p:cNvSpPr/>
          <p:nvPr/>
        </p:nvSpPr>
        <p:spPr>
          <a:xfrm>
            <a:off x="8257032" y="3429000"/>
            <a:ext cx="325526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Women, young people and underserved communities face additional barriers to participation and benefit.</a:t>
            </a:r>
            <a:endParaRPr lang="en-US" sz="840" dirty="0"/>
          </a:p>
        </p:txBody>
      </p:sp>
      <p:sp>
        <p:nvSpPr>
          <p:cNvPr id="23" name="Shape 20"/>
          <p:cNvSpPr/>
          <p:nvPr/>
        </p:nvSpPr>
        <p:spPr>
          <a:xfrm>
            <a:off x="4709160" y="4572000"/>
            <a:ext cx="6949440" cy="1188720"/>
          </a:xfrm>
          <a:prstGeom prst="roundRect">
            <a:avLst>
              <a:gd name="adj" fmla="val 3846"/>
            </a:avLst>
          </a:prstGeom>
          <a:solidFill>
            <a:srgbClr val="FCE1D5"/>
          </a:solidFill>
          <a:ln w="12700">
            <a:solidFill>
              <a:srgbClr val="FCE1D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56048" y="47365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15A24"/>
                </a:solidFill>
              </a:rPr>
              <a:t>Development implication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956048" y="504748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23E33"/>
                </a:solidFill>
              </a:rPr>
              <a:t>Programmes must combine suitable finance, savings and investment pathways with enterprise support, market access, inclusion, resilience and credible evidence of improved livelihoods.</a:t>
            </a:r>
            <a:endParaRPr lang="en-US" sz="13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123E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23E33"/>
                </a:solidFill>
              </a:rPr>
              <a:t>What JIFI is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D55"/>
                </a:solidFill>
              </a:rPr>
              <a:t>A Kenya-based development delivery partner for inclusive enterprise, livelihoods and value-chain programmes.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063240" cy="4343400"/>
          </a:xfrm>
          <a:prstGeom prst="roundRect">
            <a:avLst>
              <a:gd name="adj" fmla="val 1493"/>
            </a:avLst>
          </a:prstGeom>
          <a:solidFill>
            <a:srgbClr val="0E493C"/>
          </a:solidFill>
          <a:ln w="12700">
            <a:solidFill>
              <a:srgbClr val="0E49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CD7C9"/>
                </a:solidFill>
              </a:rPr>
              <a:t>DEVELOPMENT PURPOSE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" y="2487168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Stronger enterprises.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Better jobs.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Improved livelihoods.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Resilient communities.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48920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D7E5DE"/>
                </a:solidFill>
              </a:rPr>
              <a:t>JIFI starts with the change a partner seeks to create, then configures delivery around the target group, market and evidence standard.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977640" y="1645920"/>
            <a:ext cx="35204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977640" y="1645920"/>
            <a:ext cx="54864" cy="123444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42232" y="178308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Design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4142232" y="2103120"/>
            <a:ext cx="320954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Diagnostics, theory of change, programme architecture, delivery planning and budgets.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7818120" y="1645920"/>
            <a:ext cx="35204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818120" y="1645920"/>
            <a:ext cx="54864" cy="1234440"/>
          </a:xfrm>
          <a:prstGeom prst="rect">
            <a:avLst/>
          </a:prstGeom>
          <a:solidFill>
            <a:srgbClr val="1F6A52"/>
          </a:solidFill>
          <a:ln w="12700">
            <a:solidFill>
              <a:srgbClr val="1F6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82712" y="178308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Deliver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7982712" y="2103120"/>
            <a:ext cx="320954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Participant journeys, enterprise support, finance, market linkages and partner coordination.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3977640" y="3154680"/>
            <a:ext cx="35204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977640" y="3154680"/>
            <a:ext cx="54864" cy="123444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42232" y="329184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Assure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4142232" y="3611880"/>
            <a:ext cx="320954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Governance, safeguarding, complaints, capital boundaries, delivery-chain and data controls.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7818120" y="3154680"/>
            <a:ext cx="35204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818120" y="3154680"/>
            <a:ext cx="54864" cy="1234440"/>
          </a:xfrm>
          <a:prstGeom prst="rect">
            <a:avLst/>
          </a:prstGeom>
          <a:solidFill>
            <a:srgbClr val="D8A02B"/>
          </a:solidFill>
          <a:ln w="12700">
            <a:solidFill>
              <a:srgbClr val="D8A0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82712" y="329184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Learn and scale</a:t>
            </a:r>
            <a:endParaRPr lang="en-US" sz="1060" dirty="0"/>
          </a:p>
        </p:txBody>
      </p:sp>
      <p:sp>
        <p:nvSpPr>
          <p:cNvPr id="23" name="Text 21"/>
          <p:cNvSpPr/>
          <p:nvPr/>
        </p:nvSpPr>
        <p:spPr>
          <a:xfrm>
            <a:off x="7982712" y="3611880"/>
            <a:ext cx="320954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Baseline, monitoring, outcomes, adaptation, value for money and transition decisions.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3977640" y="5029200"/>
            <a:ext cx="7360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15A24"/>
                </a:solidFill>
              </a:rPr>
              <a:t>Core promise: from development mandate to verified enterprise outcomes.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123E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Six pillars define JIFI’s development offer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7E5DE"/>
                </a:solidFill>
              </a:rPr>
              <a:t>The pillars connect financial inclusion to enterprise growth, market participation, resilience and accountable development outcomes.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429000" cy="1600200"/>
          </a:xfrm>
          <a:prstGeom prst="roundRect">
            <a:avLst>
              <a:gd name="adj" fmla="val 2857"/>
            </a:avLst>
          </a:prstGeom>
          <a:solidFill>
            <a:srgbClr val="0E493C"/>
          </a:solidFill>
          <a:ln w="8890">
            <a:solidFill>
              <a:srgbClr val="3B7568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691640"/>
            <a:ext cx="54864" cy="160020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82880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01  Inclusive Enterprise &amp; Livelihoods</a:t>
            </a:r>
            <a:endParaRPr lang="en-US" sz="1060" dirty="0"/>
          </a:p>
        </p:txBody>
      </p:sp>
      <p:sp>
        <p:nvSpPr>
          <p:cNvPr id="7" name="Text 5"/>
          <p:cNvSpPr/>
          <p:nvPr/>
        </p:nvSpPr>
        <p:spPr>
          <a:xfrm>
            <a:off x="758952" y="2148840"/>
            <a:ext cx="3118104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D7E5DE"/>
                </a:solidFill>
              </a:rPr>
              <a:t>Productivity, incomes, jobs and sustainable livelihoods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4416552" y="1691640"/>
            <a:ext cx="3429000" cy="1600200"/>
          </a:xfrm>
          <a:prstGeom prst="roundRect">
            <a:avLst>
              <a:gd name="adj" fmla="val 2857"/>
            </a:avLst>
          </a:prstGeom>
          <a:solidFill>
            <a:srgbClr val="0E493C"/>
          </a:solidFill>
          <a:ln w="8890">
            <a:solidFill>
              <a:srgbClr val="3B7568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16552" y="1691640"/>
            <a:ext cx="54864" cy="1600200"/>
          </a:xfrm>
          <a:prstGeom prst="rect">
            <a:avLst/>
          </a:prstGeom>
          <a:solidFill>
            <a:srgbClr val="1F6A52"/>
          </a:solidFill>
          <a:ln w="12700">
            <a:solidFill>
              <a:srgbClr val="1F6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1144" y="182880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02  Inclusive Finance &amp; Catalytic Capital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4581144" y="2148840"/>
            <a:ext cx="3118104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D7E5DE"/>
                </a:solidFill>
              </a:rPr>
              <a:t>Savings, investment, suitable finance and financial health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8238744" y="1691640"/>
            <a:ext cx="3429000" cy="1600200"/>
          </a:xfrm>
          <a:prstGeom prst="roundRect">
            <a:avLst>
              <a:gd name="adj" fmla="val 2857"/>
            </a:avLst>
          </a:prstGeom>
          <a:solidFill>
            <a:srgbClr val="0E493C"/>
          </a:solidFill>
          <a:ln w="8890">
            <a:solidFill>
              <a:srgbClr val="3B7568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38744" y="1691640"/>
            <a:ext cx="54864" cy="160020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03336" y="182880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03  Market Systems &amp; Value Chains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8403336" y="2148840"/>
            <a:ext cx="3118104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D7E5DE"/>
                </a:solidFill>
              </a:rPr>
              <a:t>Buyers, suppliers, services, transactions and systemic change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594360" y="3749040"/>
            <a:ext cx="3429000" cy="1600200"/>
          </a:xfrm>
          <a:prstGeom prst="roundRect">
            <a:avLst>
              <a:gd name="adj" fmla="val 2857"/>
            </a:avLst>
          </a:prstGeom>
          <a:solidFill>
            <a:srgbClr val="0E493C"/>
          </a:solidFill>
          <a:ln w="8890">
            <a:solidFill>
              <a:srgbClr val="3B7568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3749040"/>
            <a:ext cx="54864" cy="1600200"/>
          </a:xfrm>
          <a:prstGeom prst="rect">
            <a:avLst/>
          </a:prstGeom>
          <a:solidFill>
            <a:srgbClr val="D8A02B"/>
          </a:solidFill>
          <a:ln w="12700">
            <a:solidFill>
              <a:srgbClr val="D8A0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388620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04  Women, Youth &amp; Underserved Inclusion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758952" y="4206240"/>
            <a:ext cx="3118104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D7E5DE"/>
                </a:solidFill>
              </a:rPr>
              <a:t>Reach, agency, benefit, voice and equitable opportunity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4416552" y="3749040"/>
            <a:ext cx="3429000" cy="1600200"/>
          </a:xfrm>
          <a:prstGeom prst="roundRect">
            <a:avLst>
              <a:gd name="adj" fmla="val 2857"/>
            </a:avLst>
          </a:prstGeom>
          <a:solidFill>
            <a:srgbClr val="0E493C"/>
          </a:solidFill>
          <a:ln w="8890">
            <a:solidFill>
              <a:srgbClr val="3B7568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16552" y="3749040"/>
            <a:ext cx="54864" cy="1600200"/>
          </a:xfrm>
          <a:prstGeom prst="rect">
            <a:avLst/>
          </a:prstGeom>
          <a:solidFill>
            <a:srgbClr val="75A99C"/>
          </a:solidFill>
          <a:ln w="12700">
            <a:solidFill>
              <a:srgbClr val="75A99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81144" y="388620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05  Climate Resilience &amp; Green Enterprise</a:t>
            </a:r>
            <a:endParaRPr lang="en-US" sz="1060" dirty="0"/>
          </a:p>
        </p:txBody>
      </p:sp>
      <p:sp>
        <p:nvSpPr>
          <p:cNvPr id="23" name="Text 21"/>
          <p:cNvSpPr/>
          <p:nvPr/>
        </p:nvSpPr>
        <p:spPr>
          <a:xfrm>
            <a:off x="4581144" y="4206240"/>
            <a:ext cx="3118104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D7E5DE"/>
                </a:solidFill>
              </a:rPr>
              <a:t>Risk reduction, adaptation and productive green assets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8238744" y="3749040"/>
            <a:ext cx="3429000" cy="1600200"/>
          </a:xfrm>
          <a:prstGeom prst="roundRect">
            <a:avLst>
              <a:gd name="adj" fmla="val 2857"/>
            </a:avLst>
          </a:prstGeom>
          <a:solidFill>
            <a:srgbClr val="0E493C"/>
          </a:solidFill>
          <a:ln w="8890">
            <a:solidFill>
              <a:srgbClr val="3B7568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38744" y="3749040"/>
            <a:ext cx="54864" cy="1600200"/>
          </a:xfrm>
          <a:prstGeom prst="rect">
            <a:avLst/>
          </a:prstGeom>
          <a:solidFill>
            <a:srgbClr val="C66A47"/>
          </a:solidFill>
          <a:ln w="12700">
            <a:solidFill>
              <a:srgbClr val="C66A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03336" y="388620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06  Evidence, Learning &amp; Delivery Assurance</a:t>
            </a:r>
            <a:endParaRPr lang="en-US" sz="1060" dirty="0"/>
          </a:p>
        </p:txBody>
      </p:sp>
      <p:sp>
        <p:nvSpPr>
          <p:cNvPr id="27" name="Text 25"/>
          <p:cNvSpPr/>
          <p:nvPr/>
        </p:nvSpPr>
        <p:spPr>
          <a:xfrm>
            <a:off x="8403336" y="4206240"/>
            <a:ext cx="3118104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D7E5DE"/>
                </a:solidFill>
              </a:rPr>
              <a:t>Results, safeguards, value for money and accountability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1005840" y="589788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Together, the pillars provide a complete pathway from inclusive capital and enterprise capability to improved livelihoods and community prosperity.</a:t>
            </a:r>
            <a:endParaRPr lang="en-US" sz="13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23E33"/>
                </a:solidFill>
              </a:rPr>
              <a:t>Pillar 1 | Inclusive Enterprise &amp; Livelihoods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D55"/>
                </a:solidFill>
              </a:rPr>
              <a:t>Strengthen enterprise productivity and resilience so business growth translates into higher incomes, better jobs and improved livelihoods.</a:t>
            </a:r>
            <a:endParaRPr lang="en-US" sz="1050" dirty="0"/>
          </a:p>
        </p:txBody>
      </p:sp>
      <p:pic>
        <p:nvPicPr>
          <p:cNvPr id="4" name="Image 0" descr="/mnt/data/jifi_redesign_work/media/image4.jpeg"/>
          <p:cNvPicPr>
            <a:picLocks noChangeAspect="1"/>
          </p:cNvPicPr>
          <p:nvPr/>
        </p:nvPicPr>
        <p:blipFill>
          <a:blip r:embed="rId3"/>
          <a:srcRect l="14773" r="14773"/>
          <a:stretch/>
        </p:blipFill>
        <p:spPr>
          <a:xfrm>
            <a:off x="502920" y="1600200"/>
            <a:ext cx="4251960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5870448"/>
            <a:ext cx="4251960" cy="256032"/>
          </a:xfrm>
          <a:prstGeom prst="rect">
            <a:avLst/>
          </a:prstGeom>
          <a:solidFill>
            <a:srgbClr val="0E493C">
              <a:alpha val="90000"/>
            </a:srgbClr>
          </a:solidFill>
          <a:ln w="12700">
            <a:solidFill>
              <a:srgbClr val="0E493C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5952744"/>
            <a:ext cx="40690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" dirty="0">
                <a:solidFill>
                  <a:srgbClr val="FFFFFF"/>
                </a:solidFill>
              </a:rPr>
              <a:t>Last-mile enterprise engagement | Kenya, 2026</a:t>
            </a:r>
            <a:endParaRPr lang="en-US" sz="520" dirty="0"/>
          </a:p>
        </p:txBody>
      </p:sp>
      <p:sp>
        <p:nvSpPr>
          <p:cNvPr id="7" name="Shape 4"/>
          <p:cNvSpPr/>
          <p:nvPr/>
        </p:nvSpPr>
        <p:spPr>
          <a:xfrm>
            <a:off x="5074920" y="1600200"/>
            <a:ext cx="297180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74920" y="1600200"/>
            <a:ext cx="54864" cy="123444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39512" y="173736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Enterprise diagnosis</a:t>
            </a:r>
            <a:endParaRPr lang="en-US" sz="1060" dirty="0"/>
          </a:p>
        </p:txBody>
      </p:sp>
      <p:sp>
        <p:nvSpPr>
          <p:cNvPr id="10" name="Text 7"/>
          <p:cNvSpPr/>
          <p:nvPr/>
        </p:nvSpPr>
        <p:spPr>
          <a:xfrm>
            <a:off x="5239512" y="2057400"/>
            <a:ext cx="266090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Identify the commercial, capability and household constraints limiting performance.</a:t>
            </a:r>
            <a:endParaRPr lang="en-US" sz="840" dirty="0"/>
          </a:p>
        </p:txBody>
      </p:sp>
      <p:sp>
        <p:nvSpPr>
          <p:cNvPr id="11" name="Shape 8"/>
          <p:cNvSpPr/>
          <p:nvPr/>
        </p:nvSpPr>
        <p:spPr>
          <a:xfrm>
            <a:off x="8321040" y="1600200"/>
            <a:ext cx="297180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321040" y="1600200"/>
            <a:ext cx="54864" cy="1234440"/>
          </a:xfrm>
          <a:prstGeom prst="rect">
            <a:avLst/>
          </a:prstGeom>
          <a:solidFill>
            <a:srgbClr val="1F6A52"/>
          </a:solidFill>
          <a:ln w="12700">
            <a:solidFill>
              <a:srgbClr val="1F6A5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85632" y="173736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Business capability</a:t>
            </a:r>
            <a:endParaRPr lang="en-US" sz="1060" dirty="0"/>
          </a:p>
        </p:txBody>
      </p:sp>
      <p:sp>
        <p:nvSpPr>
          <p:cNvPr id="14" name="Text 11"/>
          <p:cNvSpPr/>
          <p:nvPr/>
        </p:nvSpPr>
        <p:spPr>
          <a:xfrm>
            <a:off x="8485632" y="2057400"/>
            <a:ext cx="266090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Strengthen records, cash-flow management, planning, quality and operational decisions.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5074920" y="3154680"/>
            <a:ext cx="297180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74920" y="3154680"/>
            <a:ext cx="54864" cy="123444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39512" y="329184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Value addition</a:t>
            </a:r>
            <a:endParaRPr lang="en-US" sz="1060" dirty="0"/>
          </a:p>
        </p:txBody>
      </p:sp>
      <p:sp>
        <p:nvSpPr>
          <p:cNvPr id="18" name="Text 15"/>
          <p:cNvSpPr/>
          <p:nvPr/>
        </p:nvSpPr>
        <p:spPr>
          <a:xfrm>
            <a:off x="5239512" y="3611880"/>
            <a:ext cx="266090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Support improved products, processing, technology and productive asset use.</a:t>
            </a:r>
            <a:endParaRPr lang="en-US" sz="840" dirty="0"/>
          </a:p>
        </p:txBody>
      </p:sp>
      <p:sp>
        <p:nvSpPr>
          <p:cNvPr id="19" name="Shape 16"/>
          <p:cNvSpPr/>
          <p:nvPr/>
        </p:nvSpPr>
        <p:spPr>
          <a:xfrm>
            <a:off x="8321040" y="3154680"/>
            <a:ext cx="297180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321040" y="3154680"/>
            <a:ext cx="54864" cy="1234440"/>
          </a:xfrm>
          <a:prstGeom prst="rect">
            <a:avLst/>
          </a:prstGeom>
          <a:solidFill>
            <a:srgbClr val="D8A02B"/>
          </a:solidFill>
          <a:ln w="12700">
            <a:solidFill>
              <a:srgbClr val="D8A0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85632" y="329184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Livelihood outcomes</a:t>
            </a:r>
            <a:endParaRPr lang="en-US" sz="1060" dirty="0"/>
          </a:p>
        </p:txBody>
      </p:sp>
      <p:sp>
        <p:nvSpPr>
          <p:cNvPr id="22" name="Text 19"/>
          <p:cNvSpPr/>
          <p:nvPr/>
        </p:nvSpPr>
        <p:spPr>
          <a:xfrm>
            <a:off x="8485632" y="3611880"/>
            <a:ext cx="266090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Track income, continuity, productive assets, job quality and household resilience.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507492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15A24"/>
                </a:solidFill>
              </a:rPr>
              <a:t>Development change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074920" y="5230368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23E33"/>
                </a:solidFill>
              </a:rPr>
              <a:t>Viable enterprises grow sustainably and create more secure economic opportunities for households and communities.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123E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23E33"/>
                </a:solidFill>
              </a:rPr>
              <a:t>Pillar 2 | Inclusive Finance &amp; Catalytic Capital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D55"/>
                </a:solidFill>
              </a:rPr>
              <a:t>Build financial wellbeing through savings, responsible finance, investment readiness and capital matched to enterprise reality.</a:t>
            </a:r>
            <a:endParaRPr lang="en-US" sz="1050" dirty="0"/>
          </a:p>
        </p:txBody>
      </p:sp>
      <p:pic>
        <p:nvPicPr>
          <p:cNvPr id="4" name="Image 0" descr="/mnt/data/jifi_redesign_work/media/image5.jpeg"/>
          <p:cNvPicPr>
            <a:picLocks noChangeAspect="1"/>
          </p:cNvPicPr>
          <p:nvPr/>
        </p:nvPicPr>
        <p:blipFill>
          <a:blip r:embed="rId3"/>
          <a:srcRect l="16250" r="16250"/>
          <a:stretch/>
        </p:blipFill>
        <p:spPr>
          <a:xfrm>
            <a:off x="7543800" y="1554480"/>
            <a:ext cx="41148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43800" y="5870448"/>
            <a:ext cx="4114800" cy="256032"/>
          </a:xfrm>
          <a:prstGeom prst="rect">
            <a:avLst/>
          </a:prstGeom>
          <a:solidFill>
            <a:srgbClr val="0E493C">
              <a:alpha val="90000"/>
            </a:srgbClr>
          </a:solidFill>
          <a:ln w="12700">
            <a:solidFill>
              <a:srgbClr val="0E493C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35240" y="5952744"/>
            <a:ext cx="3931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" dirty="0">
                <a:solidFill>
                  <a:srgbClr val="FFFFFF"/>
                </a:solidFill>
              </a:rPr>
              <a:t>Enterprise and cash-flow engagement | Kenya, 2026</a:t>
            </a:r>
            <a:endParaRPr lang="en-US" sz="520" dirty="0"/>
          </a:p>
        </p:txBody>
      </p:sp>
      <p:sp>
        <p:nvSpPr>
          <p:cNvPr id="7" name="Shape 4"/>
          <p:cNvSpPr/>
          <p:nvPr/>
        </p:nvSpPr>
        <p:spPr>
          <a:xfrm>
            <a:off x="594360" y="1600200"/>
            <a:ext cx="6355080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4360" y="1600200"/>
            <a:ext cx="54864" cy="8778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" y="1737360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Savings &amp; buffers</a:t>
            </a:r>
            <a:endParaRPr lang="en-US" sz="1060" dirty="0"/>
          </a:p>
        </p:txBody>
      </p:sp>
      <p:sp>
        <p:nvSpPr>
          <p:cNvPr id="10" name="Text 7"/>
          <p:cNvSpPr/>
          <p:nvPr/>
        </p:nvSpPr>
        <p:spPr>
          <a:xfrm>
            <a:off x="758952" y="2057400"/>
            <a:ext cx="604418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Strengthen financial discipline, shock preparedness and business reserves.</a:t>
            </a:r>
            <a:endParaRPr lang="en-US" sz="840" dirty="0"/>
          </a:p>
        </p:txBody>
      </p:sp>
      <p:sp>
        <p:nvSpPr>
          <p:cNvPr id="11" name="Shape 8"/>
          <p:cNvSpPr/>
          <p:nvPr/>
        </p:nvSpPr>
        <p:spPr>
          <a:xfrm>
            <a:off x="594360" y="2679192"/>
            <a:ext cx="6355080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" y="2679192"/>
            <a:ext cx="54864" cy="877824"/>
          </a:xfrm>
          <a:prstGeom prst="rect">
            <a:avLst/>
          </a:prstGeom>
          <a:solidFill>
            <a:srgbClr val="1F6A52"/>
          </a:solidFill>
          <a:ln w="12700">
            <a:solidFill>
              <a:srgbClr val="1F6A5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" y="2816352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Suitable finance</a:t>
            </a:r>
            <a:endParaRPr lang="en-US" sz="1060" dirty="0"/>
          </a:p>
        </p:txBody>
      </p:sp>
      <p:sp>
        <p:nvSpPr>
          <p:cNvPr id="14" name="Text 11"/>
          <p:cNvSpPr/>
          <p:nvPr/>
        </p:nvSpPr>
        <p:spPr>
          <a:xfrm>
            <a:off x="758952" y="3136392"/>
            <a:ext cx="604418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Align purpose, amount, timing, tenor and repayment with verified cash flow.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594360" y="3758184"/>
            <a:ext cx="6355080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" y="3758184"/>
            <a:ext cx="54864" cy="877824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8952" y="3895344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Investment pathways</a:t>
            </a:r>
            <a:endParaRPr lang="en-US" sz="1060" dirty="0"/>
          </a:p>
        </p:txBody>
      </p:sp>
      <p:sp>
        <p:nvSpPr>
          <p:cNvPr id="18" name="Text 15"/>
          <p:cNvSpPr/>
          <p:nvPr/>
        </p:nvSpPr>
        <p:spPr>
          <a:xfrm>
            <a:off x="758952" y="4215384"/>
            <a:ext cx="604418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Prepare enterprises for productive assets, repeat finance and suitable onward investment.</a:t>
            </a:r>
            <a:endParaRPr lang="en-US" sz="840" dirty="0"/>
          </a:p>
        </p:txBody>
      </p:sp>
      <p:sp>
        <p:nvSpPr>
          <p:cNvPr id="19" name="Shape 16"/>
          <p:cNvSpPr/>
          <p:nvPr/>
        </p:nvSpPr>
        <p:spPr>
          <a:xfrm>
            <a:off x="594360" y="4837176"/>
            <a:ext cx="6355080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4360" y="4837176"/>
            <a:ext cx="54864" cy="877824"/>
          </a:xfrm>
          <a:prstGeom prst="rect">
            <a:avLst/>
          </a:prstGeom>
          <a:solidFill>
            <a:srgbClr val="D8A02B"/>
          </a:solidFill>
          <a:ln w="12700">
            <a:solidFill>
              <a:srgbClr val="D8A0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8952" y="4974336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Catalytic capital</a:t>
            </a:r>
            <a:endParaRPr lang="en-US" sz="1060" dirty="0"/>
          </a:p>
        </p:txBody>
      </p:sp>
      <p:sp>
        <p:nvSpPr>
          <p:cNvPr id="22" name="Text 19"/>
          <p:cNvSpPr/>
          <p:nvPr/>
        </p:nvSpPr>
        <p:spPr>
          <a:xfrm>
            <a:off x="758952" y="5294376"/>
            <a:ext cx="604418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Use partner-funded facilities, guarantees or risk-sharing only with explicit rules and reporting.</a:t>
            </a:r>
            <a:endParaRPr lang="en-US" sz="840" dirty="0"/>
          </a:p>
        </p:txBody>
      </p:sp>
      <p:sp>
        <p:nvSpPr>
          <p:cNvPr id="23" name="Shape 20"/>
          <p:cNvSpPr/>
          <p:nvPr/>
        </p:nvSpPr>
        <p:spPr>
          <a:xfrm>
            <a:off x="594360" y="5650992"/>
            <a:ext cx="6355080" cy="384048"/>
          </a:xfrm>
          <a:prstGeom prst="roundRect">
            <a:avLst>
              <a:gd name="adj" fmla="val 9524"/>
            </a:avLst>
          </a:prstGeom>
          <a:solidFill>
            <a:srgbClr val="FCE1D5"/>
          </a:solidFill>
          <a:ln w="12700">
            <a:solidFill>
              <a:srgbClr val="FCE1D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" y="5751576"/>
            <a:ext cx="5897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23E33"/>
                </a:solidFill>
              </a:rPr>
              <a:t>Inclusion does not mean unsuitable debt. Non-credit support, savings-led growth or responsible decline can be valid programme outcomes.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123E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23E33"/>
                </a:solidFill>
              </a:rPr>
              <a:t>Pillar 3 | Market Systems &amp; Value Chains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D55"/>
                </a:solidFill>
              </a:rPr>
              <a:t>Expand economic opportunity by strengthening the relationships, services and transactions around the enterprise.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434840" y="2331720"/>
            <a:ext cx="3200400" cy="1234440"/>
          </a:xfrm>
          <a:prstGeom prst="ellipse">
            <a:avLst/>
          </a:prstGeom>
          <a:solidFill>
            <a:srgbClr val="0E493C"/>
          </a:solidFill>
          <a:ln w="12700">
            <a:solidFill>
              <a:srgbClr val="0E49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0" y="26700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LAST-MILE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ENTERPRISE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34290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00200"/>
            <a:ext cx="54864" cy="1325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73736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MARKETS</a:t>
            </a:r>
            <a:endParaRPr lang="en-US" sz="1060" dirty="0"/>
          </a:p>
        </p:txBody>
      </p:sp>
      <p:sp>
        <p:nvSpPr>
          <p:cNvPr id="9" name="Text 7"/>
          <p:cNvSpPr/>
          <p:nvPr/>
        </p:nvSpPr>
        <p:spPr>
          <a:xfrm>
            <a:off x="758952" y="2057400"/>
            <a:ext cx="311810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Buyers, processors, traders and repeat demand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8183880" y="1600200"/>
            <a:ext cx="34290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183880" y="1600200"/>
            <a:ext cx="54864" cy="1325880"/>
          </a:xfrm>
          <a:prstGeom prst="rect">
            <a:avLst/>
          </a:prstGeom>
          <a:solidFill>
            <a:srgbClr val="1F6A52"/>
          </a:solidFill>
          <a:ln w="12700">
            <a:solidFill>
              <a:srgbClr val="1F6A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173736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FINANCE</a:t>
            </a:r>
            <a:endParaRPr lang="en-US" sz="1060" dirty="0"/>
          </a:p>
        </p:txBody>
      </p:sp>
      <p:sp>
        <p:nvSpPr>
          <p:cNvPr id="13" name="Text 11"/>
          <p:cNvSpPr/>
          <p:nvPr/>
        </p:nvSpPr>
        <p:spPr>
          <a:xfrm>
            <a:off x="8348472" y="2057400"/>
            <a:ext cx="311810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Banks, MFIs, guarantees, insurers and investors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594360" y="3977640"/>
            <a:ext cx="34290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977640"/>
            <a:ext cx="54864" cy="132588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411480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SERVICES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758952" y="4434840"/>
            <a:ext cx="311810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Technical, business, digital and data providers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8183880" y="3977640"/>
            <a:ext cx="34290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83880" y="3977640"/>
            <a:ext cx="54864" cy="1325880"/>
          </a:xfrm>
          <a:prstGeom prst="rect">
            <a:avLst/>
          </a:prstGeom>
          <a:solidFill>
            <a:srgbClr val="D8A02B"/>
          </a:solidFill>
          <a:ln w="12700">
            <a:solidFill>
              <a:srgbClr val="D8A0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8472" y="411480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ENABLERS</a:t>
            </a:r>
            <a:endParaRPr lang="en-US" sz="1060" dirty="0"/>
          </a:p>
        </p:txBody>
      </p:sp>
      <p:sp>
        <p:nvSpPr>
          <p:cNvPr id="21" name="Text 19"/>
          <p:cNvSpPr/>
          <p:nvPr/>
        </p:nvSpPr>
        <p:spPr>
          <a:xfrm>
            <a:off x="8348472" y="4434840"/>
            <a:ext cx="311810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Counties, policy actors, infrastructure and standards</a:t>
            </a:r>
            <a:endParaRPr lang="en-US" sz="840" dirty="0"/>
          </a:p>
        </p:txBody>
      </p:sp>
      <p:pic>
        <p:nvPicPr>
          <p:cNvPr id="22" name="Image 0" descr="/mnt/data/jifi_redesign_work/media/image6.jpeg"/>
          <p:cNvPicPr>
            <a:picLocks noChangeAspect="1"/>
          </p:cNvPicPr>
          <p:nvPr/>
        </p:nvPicPr>
        <p:blipFill>
          <a:blip r:embed="rId3"/>
          <a:srcRect t="21875" b="21875"/>
          <a:stretch/>
        </p:blipFill>
        <p:spPr>
          <a:xfrm>
            <a:off x="4005072" y="4069080"/>
            <a:ext cx="4023360" cy="150876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005072" y="5321808"/>
            <a:ext cx="4023360" cy="256032"/>
          </a:xfrm>
          <a:prstGeom prst="rect">
            <a:avLst/>
          </a:prstGeom>
          <a:solidFill>
            <a:srgbClr val="0E493C">
              <a:alpha val="90000"/>
            </a:srgbClr>
          </a:solidFill>
          <a:ln w="12700">
            <a:solidFill>
              <a:srgbClr val="0E493C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096512" y="5404104"/>
            <a:ext cx="38404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" dirty="0">
                <a:solidFill>
                  <a:srgbClr val="FFFFFF"/>
                </a:solidFill>
              </a:rPr>
              <a:t>Market engagement | Kenya, 2026</a:t>
            </a:r>
            <a:endParaRPr lang="en-US" sz="520" dirty="0"/>
          </a:p>
        </p:txBody>
      </p:sp>
      <p:sp>
        <p:nvSpPr>
          <p:cNvPr id="25" name="Text 22"/>
          <p:cNvSpPr/>
          <p:nvPr/>
        </p:nvSpPr>
        <p:spPr>
          <a:xfrm>
            <a:off x="2011680" y="5870448"/>
            <a:ext cx="8183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E33"/>
                </a:solidFill>
              </a:rPr>
              <a:t>JIFI identifies the binding constraint, convenes actors with an incentive to solve it and supports relationships that can continue beyond the programme.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123E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23E33"/>
                </a:solidFill>
              </a:rPr>
              <a:t>Pillar 4 | Women, Youth &amp; Underserved Inclusion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D55"/>
                </a:solidFill>
              </a:rPr>
              <a:t>Design for meaningful participation, benefit, agency and equitable access to economic opportunity.</a:t>
            </a:r>
            <a:endParaRPr lang="en-US" sz="1050" dirty="0"/>
          </a:p>
        </p:txBody>
      </p:sp>
      <p:pic>
        <p:nvPicPr>
          <p:cNvPr id="4" name="Image 0" descr="/mnt/data/jifi_redesign_work/media/image7.jpeg"/>
          <p:cNvPicPr>
            <a:picLocks noChangeAspect="1"/>
          </p:cNvPicPr>
          <p:nvPr/>
        </p:nvPicPr>
        <p:blipFill>
          <a:blip r:embed="rId3"/>
          <a:srcRect l="12129" r="12129"/>
          <a:stretch/>
        </p:blipFill>
        <p:spPr>
          <a:xfrm>
            <a:off x="502920" y="1554480"/>
            <a:ext cx="4663440" cy="4617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5916168"/>
            <a:ext cx="4663440" cy="256032"/>
          </a:xfrm>
          <a:prstGeom prst="rect">
            <a:avLst/>
          </a:prstGeom>
          <a:solidFill>
            <a:srgbClr val="0E493C">
              <a:alpha val="90000"/>
            </a:srgbClr>
          </a:solidFill>
          <a:ln w="12700">
            <a:solidFill>
              <a:srgbClr val="0E493C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5998464"/>
            <a:ext cx="44805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" dirty="0">
                <a:solidFill>
                  <a:srgbClr val="FFFFFF"/>
                </a:solidFill>
              </a:rPr>
              <a:t>Participant engagement | Kenya, 2026</a:t>
            </a:r>
            <a:endParaRPr lang="en-US" sz="520" dirty="0"/>
          </a:p>
        </p:txBody>
      </p:sp>
      <p:sp>
        <p:nvSpPr>
          <p:cNvPr id="7" name="Shape 4"/>
          <p:cNvSpPr/>
          <p:nvPr/>
        </p:nvSpPr>
        <p:spPr>
          <a:xfrm>
            <a:off x="5440680" y="1554480"/>
            <a:ext cx="274320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40680" y="1554480"/>
            <a:ext cx="54864" cy="123444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05272" y="16916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Reach</a:t>
            </a:r>
            <a:endParaRPr lang="en-US" sz="1060" dirty="0"/>
          </a:p>
        </p:txBody>
      </p:sp>
      <p:sp>
        <p:nvSpPr>
          <p:cNvPr id="10" name="Text 7"/>
          <p:cNvSpPr/>
          <p:nvPr/>
        </p:nvSpPr>
        <p:spPr>
          <a:xfrm>
            <a:off x="5605272" y="2011680"/>
            <a:ext cx="243230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Use transparent eligibility and accessible mobilisation to reach the intended groups.</a:t>
            </a:r>
            <a:endParaRPr lang="en-US" sz="840" dirty="0"/>
          </a:p>
        </p:txBody>
      </p:sp>
      <p:sp>
        <p:nvSpPr>
          <p:cNvPr id="11" name="Shape 8"/>
          <p:cNvSpPr/>
          <p:nvPr/>
        </p:nvSpPr>
        <p:spPr>
          <a:xfrm>
            <a:off x="8458200" y="1554480"/>
            <a:ext cx="274320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458200" y="1554480"/>
            <a:ext cx="54864" cy="1234440"/>
          </a:xfrm>
          <a:prstGeom prst="rect">
            <a:avLst/>
          </a:prstGeom>
          <a:solidFill>
            <a:srgbClr val="1F6A52"/>
          </a:solidFill>
          <a:ln w="12700">
            <a:solidFill>
              <a:srgbClr val="1F6A5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22792" y="16916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Participation</a:t>
            </a:r>
            <a:endParaRPr lang="en-US" sz="1060" dirty="0"/>
          </a:p>
        </p:txBody>
      </p:sp>
      <p:sp>
        <p:nvSpPr>
          <p:cNvPr id="14" name="Text 11"/>
          <p:cNvSpPr/>
          <p:nvPr/>
        </p:nvSpPr>
        <p:spPr>
          <a:xfrm>
            <a:off x="8622792" y="2011680"/>
            <a:ext cx="243230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Remove practical barriers affecting entry, completion and use of services.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5440680" y="3063240"/>
            <a:ext cx="274320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40680" y="3063240"/>
            <a:ext cx="54864" cy="123444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05272" y="32004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Agency and control</a:t>
            </a:r>
            <a:endParaRPr lang="en-US" sz="1060" dirty="0"/>
          </a:p>
        </p:txBody>
      </p:sp>
      <p:sp>
        <p:nvSpPr>
          <p:cNvPr id="18" name="Text 15"/>
          <p:cNvSpPr/>
          <p:nvPr/>
        </p:nvSpPr>
        <p:spPr>
          <a:xfrm>
            <a:off x="5605272" y="3520440"/>
            <a:ext cx="243230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Measure voice, decision-making and control of income and productive assets.</a:t>
            </a:r>
            <a:endParaRPr lang="en-US" sz="840" dirty="0"/>
          </a:p>
        </p:txBody>
      </p:sp>
      <p:sp>
        <p:nvSpPr>
          <p:cNvPr id="19" name="Shape 16"/>
          <p:cNvSpPr/>
          <p:nvPr/>
        </p:nvSpPr>
        <p:spPr>
          <a:xfrm>
            <a:off x="8458200" y="3063240"/>
            <a:ext cx="274320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458200" y="3063240"/>
            <a:ext cx="54864" cy="1234440"/>
          </a:xfrm>
          <a:prstGeom prst="rect">
            <a:avLst/>
          </a:prstGeom>
          <a:solidFill>
            <a:srgbClr val="D8A02B"/>
          </a:solidFill>
          <a:ln w="12700">
            <a:solidFill>
              <a:srgbClr val="D8A0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22792" y="32004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Benefit and protection</a:t>
            </a:r>
            <a:endParaRPr lang="en-US" sz="1060" dirty="0"/>
          </a:p>
        </p:txBody>
      </p:sp>
      <p:sp>
        <p:nvSpPr>
          <p:cNvPr id="22" name="Text 19"/>
          <p:cNvSpPr/>
          <p:nvPr/>
        </p:nvSpPr>
        <p:spPr>
          <a:xfrm>
            <a:off x="8622792" y="3520440"/>
            <a:ext cx="243230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Track who gains, whether workloads or risks increase, and how issues are resolved.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544068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15A24"/>
                </a:solidFill>
              </a:rPr>
              <a:t>Development standard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440680" y="5230368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23E33"/>
                </a:solidFill>
              </a:rPr>
              <a:t>Participation numbers are not enough. JIFI will assess who benefits, who controls resources and whether programme delivery is safe and equitable.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123E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23E33"/>
                </a:solidFill>
              </a:rPr>
              <a:t>Pillar 5 | Climate Resilience &amp; Green Enterprise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D55"/>
                </a:solidFill>
              </a:rPr>
              <a:t>Reduce exposure to climate and environmental risk while enabling commercially viable green and resilient enterprise solutions.</a:t>
            </a:r>
            <a:endParaRPr lang="en-US" sz="1050" dirty="0"/>
          </a:p>
        </p:txBody>
      </p:sp>
      <p:pic>
        <p:nvPicPr>
          <p:cNvPr id="4" name="Image 0" descr="/mnt/data/jifi_redesign_work/media/image8.jpeg"/>
          <p:cNvPicPr>
            <a:picLocks noChangeAspect="1"/>
          </p:cNvPicPr>
          <p:nvPr/>
        </p:nvPicPr>
        <p:blipFill>
          <a:blip r:embed="rId3"/>
          <a:srcRect l="16625" r="16625"/>
          <a:stretch/>
        </p:blipFill>
        <p:spPr>
          <a:xfrm>
            <a:off x="7589520" y="1554480"/>
            <a:ext cx="406908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89520" y="5870448"/>
            <a:ext cx="4069080" cy="256032"/>
          </a:xfrm>
          <a:prstGeom prst="rect">
            <a:avLst/>
          </a:prstGeom>
          <a:solidFill>
            <a:srgbClr val="0E493C">
              <a:alpha val="90000"/>
            </a:srgbClr>
          </a:solidFill>
          <a:ln w="12700">
            <a:solidFill>
              <a:srgbClr val="0E493C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0" y="5952744"/>
            <a:ext cx="38862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" dirty="0">
                <a:solidFill>
                  <a:srgbClr val="FFFFFF"/>
                </a:solidFill>
              </a:rPr>
              <a:t>Value-chain field engagement | Kenya, 2026</a:t>
            </a:r>
            <a:endParaRPr lang="en-US" sz="520" dirty="0"/>
          </a:p>
        </p:txBody>
      </p:sp>
      <p:sp>
        <p:nvSpPr>
          <p:cNvPr id="7" name="Shape 4"/>
          <p:cNvSpPr/>
          <p:nvPr/>
        </p:nvSpPr>
        <p:spPr>
          <a:xfrm>
            <a:off x="594360" y="1600200"/>
            <a:ext cx="30632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4360" y="1600200"/>
            <a:ext cx="54864" cy="123444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" y="173736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Risk screening</a:t>
            </a:r>
            <a:endParaRPr lang="en-US" sz="1060" dirty="0"/>
          </a:p>
        </p:txBody>
      </p:sp>
      <p:sp>
        <p:nvSpPr>
          <p:cNvPr id="10" name="Text 7"/>
          <p:cNvSpPr/>
          <p:nvPr/>
        </p:nvSpPr>
        <p:spPr>
          <a:xfrm>
            <a:off x="758952" y="2057400"/>
            <a:ext cx="275234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Understand climate exposure, livelihood sensitivity and the enterprise’s capacity to respond.</a:t>
            </a:r>
            <a:endParaRPr lang="en-US" sz="840" dirty="0"/>
          </a:p>
        </p:txBody>
      </p:sp>
      <p:sp>
        <p:nvSpPr>
          <p:cNvPr id="11" name="Shape 8"/>
          <p:cNvSpPr/>
          <p:nvPr/>
        </p:nvSpPr>
        <p:spPr>
          <a:xfrm>
            <a:off x="3977640" y="1600200"/>
            <a:ext cx="30632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977640" y="1600200"/>
            <a:ext cx="54864" cy="1234440"/>
          </a:xfrm>
          <a:prstGeom prst="rect">
            <a:avLst/>
          </a:prstGeom>
          <a:solidFill>
            <a:srgbClr val="1F6A52"/>
          </a:solidFill>
          <a:ln w="12700">
            <a:solidFill>
              <a:srgbClr val="1F6A5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42232" y="173736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Resilient practices</a:t>
            </a:r>
            <a:endParaRPr lang="en-US" sz="1060" dirty="0"/>
          </a:p>
        </p:txBody>
      </p:sp>
      <p:sp>
        <p:nvSpPr>
          <p:cNvPr id="14" name="Text 11"/>
          <p:cNvSpPr/>
          <p:nvPr/>
        </p:nvSpPr>
        <p:spPr>
          <a:xfrm>
            <a:off x="4142232" y="2057400"/>
            <a:ext cx="275234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Support practical actions that protect production, assets, supply and income.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594360" y="3154680"/>
            <a:ext cx="30632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" y="3154680"/>
            <a:ext cx="54864" cy="123444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8952" y="329184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Green productive assets</a:t>
            </a:r>
            <a:endParaRPr lang="en-US" sz="1060" dirty="0"/>
          </a:p>
        </p:txBody>
      </p:sp>
      <p:sp>
        <p:nvSpPr>
          <p:cNvPr id="18" name="Text 15"/>
          <p:cNvSpPr/>
          <p:nvPr/>
        </p:nvSpPr>
        <p:spPr>
          <a:xfrm>
            <a:off x="758952" y="3611880"/>
            <a:ext cx="275234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Enable viable energy, water, cold-chain, processing and loss-reduction investments.</a:t>
            </a:r>
            <a:endParaRPr lang="en-US" sz="840" dirty="0"/>
          </a:p>
        </p:txBody>
      </p:sp>
      <p:sp>
        <p:nvSpPr>
          <p:cNvPr id="19" name="Shape 16"/>
          <p:cNvSpPr/>
          <p:nvPr/>
        </p:nvSpPr>
        <p:spPr>
          <a:xfrm>
            <a:off x="3977640" y="3154680"/>
            <a:ext cx="30632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977640" y="3154680"/>
            <a:ext cx="54864" cy="1234440"/>
          </a:xfrm>
          <a:prstGeom prst="rect">
            <a:avLst/>
          </a:prstGeom>
          <a:solidFill>
            <a:srgbClr val="D8A02B"/>
          </a:solidFill>
          <a:ln w="12700">
            <a:solidFill>
              <a:srgbClr val="D8A0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42232" y="329184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Risk finance and insurance</a:t>
            </a:r>
            <a:endParaRPr lang="en-US" sz="1060" dirty="0"/>
          </a:p>
        </p:txBody>
      </p:sp>
      <p:sp>
        <p:nvSpPr>
          <p:cNvPr id="22" name="Text 19"/>
          <p:cNvSpPr/>
          <p:nvPr/>
        </p:nvSpPr>
        <p:spPr>
          <a:xfrm>
            <a:off x="4142232" y="3611880"/>
            <a:ext cx="275234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Use savings, insurance and risk-sharing where the design and economics justify them.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822960" y="5074920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3E33"/>
                </a:solidFill>
              </a:rPr>
              <a:t>Measure adoption, productive use and verified resilience benefit, not only the number of green assets financed.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123E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Pillar 6 | Evidence, Learning &amp; Delivery Assurance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7E5DE"/>
                </a:solidFill>
              </a:rPr>
              <a:t>Give commissioners confidence that resources, delivery quality, participant protection and outcomes are visible and used for decisions.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0E493C"/>
          </a:solidFill>
          <a:ln w="8890">
            <a:solidFill>
              <a:srgbClr val="3B7568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645920"/>
            <a:ext cx="54864" cy="141732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78308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01  BASELINE</a:t>
            </a:r>
            <a:endParaRPr lang="en-US" sz="1060" dirty="0"/>
          </a:p>
        </p:txBody>
      </p:sp>
      <p:sp>
        <p:nvSpPr>
          <p:cNvPr id="7" name="Text 5"/>
          <p:cNvSpPr/>
          <p:nvPr/>
        </p:nvSpPr>
        <p:spPr>
          <a:xfrm>
            <a:off x="758952" y="2103120"/>
            <a:ext cx="229514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D7E5DE"/>
                </a:solidFill>
              </a:rPr>
              <a:t>Enterprise, household, market and risk starting point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3200400" y="215798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38F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0E493C"/>
          </a:solidFill>
          <a:ln w="8890">
            <a:solidFill>
              <a:srgbClr val="3B7568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645920"/>
            <a:ext cx="54864" cy="1417320"/>
          </a:xfrm>
          <a:prstGeom prst="rect">
            <a:avLst/>
          </a:prstGeom>
          <a:solidFill>
            <a:srgbClr val="1F6A52"/>
          </a:solidFill>
          <a:ln w="12700">
            <a:solidFill>
              <a:srgbClr val="1F6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178308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02  LIVE DELIVERY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3639312" y="2103120"/>
            <a:ext cx="229514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D7E5DE"/>
                </a:solidFill>
              </a:rPr>
              <a:t>Participation, support, finance use and service quality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6080760" y="215798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38F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55080" y="164592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0E493C"/>
          </a:solidFill>
          <a:ln w="8890">
            <a:solidFill>
              <a:srgbClr val="3B7568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1645920"/>
            <a:ext cx="54864" cy="141732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178308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03  OUTCOME REVIEW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6519672" y="2103120"/>
            <a:ext cx="229514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D7E5DE"/>
                </a:solidFill>
              </a:rPr>
              <a:t>Performance, financial health, market and resilience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8961120" y="215798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38F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235440" y="164592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0E493C"/>
          </a:solidFill>
          <a:ln w="8890">
            <a:solidFill>
              <a:srgbClr val="3B7568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35440" y="1645920"/>
            <a:ext cx="54864" cy="1417320"/>
          </a:xfrm>
          <a:prstGeom prst="rect">
            <a:avLst/>
          </a:prstGeom>
          <a:solidFill>
            <a:srgbClr val="D8A02B"/>
          </a:solidFill>
          <a:ln w="12700">
            <a:solidFill>
              <a:srgbClr val="D8A0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0032" y="178308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04  DECISION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9400032" y="2103120"/>
            <a:ext cx="229514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D7E5DE"/>
                </a:solidFill>
              </a:rPr>
              <a:t>Stop, adapt, scale, transfer or transition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731520" y="3703320"/>
            <a:ext cx="2423160" cy="292608"/>
          </a:xfrm>
          <a:prstGeom prst="roundRect">
            <a:avLst>
              <a:gd name="adj" fmla="val 25000"/>
            </a:avLst>
          </a:prstGeom>
          <a:solidFill>
            <a:srgbClr val="2B6659"/>
          </a:solidFill>
          <a:ln w="12700">
            <a:solidFill>
              <a:srgbClr val="2B665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3767328"/>
            <a:ext cx="2276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Finance fit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520440" y="3703320"/>
            <a:ext cx="2423160" cy="292608"/>
          </a:xfrm>
          <a:prstGeom prst="roundRect">
            <a:avLst>
              <a:gd name="adj" fmla="val 25000"/>
            </a:avLst>
          </a:prstGeom>
          <a:solidFill>
            <a:srgbClr val="2B6659"/>
          </a:solidFill>
          <a:ln w="12700">
            <a:solidFill>
              <a:srgbClr val="2B66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93592" y="3767328"/>
            <a:ext cx="2276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Enterprise outcomes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309360" y="3703320"/>
            <a:ext cx="2423160" cy="292608"/>
          </a:xfrm>
          <a:prstGeom prst="roundRect">
            <a:avLst>
              <a:gd name="adj" fmla="val 25000"/>
            </a:avLst>
          </a:prstGeom>
          <a:solidFill>
            <a:srgbClr val="2B6659"/>
          </a:solidFill>
          <a:ln w="12700">
            <a:solidFill>
              <a:srgbClr val="2B665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3767328"/>
            <a:ext cx="2276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Financial health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9098280" y="3703320"/>
            <a:ext cx="2423160" cy="292608"/>
          </a:xfrm>
          <a:prstGeom prst="roundRect">
            <a:avLst>
              <a:gd name="adj" fmla="val 25000"/>
            </a:avLst>
          </a:prstGeom>
          <a:solidFill>
            <a:srgbClr val="2B6659"/>
          </a:solidFill>
          <a:ln w="12700">
            <a:solidFill>
              <a:srgbClr val="2B665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71432" y="3767328"/>
            <a:ext cx="2276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Market participation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731520" y="4361688"/>
            <a:ext cx="2423160" cy="292608"/>
          </a:xfrm>
          <a:prstGeom prst="roundRect">
            <a:avLst>
              <a:gd name="adj" fmla="val 25000"/>
            </a:avLst>
          </a:prstGeom>
          <a:solidFill>
            <a:srgbClr val="3B7568"/>
          </a:solidFill>
          <a:ln w="12700">
            <a:solidFill>
              <a:srgbClr val="3B75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" y="4425696"/>
            <a:ext cx="2276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Inclusion and agency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520440" y="4361688"/>
            <a:ext cx="2423160" cy="292608"/>
          </a:xfrm>
          <a:prstGeom prst="roundRect">
            <a:avLst>
              <a:gd name="adj" fmla="val 25000"/>
            </a:avLst>
          </a:prstGeom>
          <a:solidFill>
            <a:srgbClr val="3B7568"/>
          </a:solidFill>
          <a:ln w="12700">
            <a:solidFill>
              <a:srgbClr val="3B756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93592" y="4425696"/>
            <a:ext cx="2276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Climate resilience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309360" y="4361688"/>
            <a:ext cx="2423160" cy="292608"/>
          </a:xfrm>
          <a:prstGeom prst="roundRect">
            <a:avLst>
              <a:gd name="adj" fmla="val 25000"/>
            </a:avLst>
          </a:prstGeom>
          <a:solidFill>
            <a:srgbClr val="3B7568"/>
          </a:solidFill>
          <a:ln w="12700">
            <a:solidFill>
              <a:srgbClr val="3B756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82512" y="4425696"/>
            <a:ext cx="2276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Safeguarding and complaints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9098280" y="4361688"/>
            <a:ext cx="2423160" cy="292608"/>
          </a:xfrm>
          <a:prstGeom prst="roundRect">
            <a:avLst>
              <a:gd name="adj" fmla="val 25000"/>
            </a:avLst>
          </a:prstGeom>
          <a:solidFill>
            <a:srgbClr val="3B7568"/>
          </a:solidFill>
          <a:ln w="12700">
            <a:solidFill>
              <a:srgbClr val="3B756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71432" y="4425696"/>
            <a:ext cx="2276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Value for money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005840" y="5257800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Evidence is an operating tool: agree definitions early, review regularly, document adaptations and maintain a clear audit trail.</a:t>
            </a:r>
            <a:endParaRPr lang="en-US" sz="15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23E33"/>
                </a:solidFill>
              </a:rPr>
              <a:t>How JIFI delivers: a repeatable implementation method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D55"/>
                </a:solidFill>
              </a:rPr>
              <a:t>The DELIVERS framework converts a development mandate into a controlled participant journey and evidence-based scale decision.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02920" cy="502920"/>
          </a:xfrm>
          <a:prstGeom prst="ellipse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72821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3444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3E33"/>
                </a:solidFill>
              </a:rPr>
              <a:t>Diagnose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199339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445D55"/>
                </a:solidFill>
              </a:rPr>
              <a:t>Problem, market, participants and baseline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429000" y="1600200"/>
            <a:ext cx="502920" cy="502920"/>
          </a:xfrm>
          <a:prstGeom prst="ellipse">
            <a:avLst/>
          </a:prstGeom>
          <a:solidFill>
            <a:srgbClr val="1F6A52"/>
          </a:solidFill>
          <a:ln w="12700">
            <a:solidFill>
              <a:srgbClr val="1F6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72821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6908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3E33"/>
                </a:solidFill>
              </a:rPr>
              <a:t>Engage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69080" y="199339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445D55"/>
                </a:solidFill>
              </a:rPr>
              <a:t>Transparent targeting, consent and segmentation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263640" y="1600200"/>
            <a:ext cx="502920" cy="502920"/>
          </a:xfrm>
          <a:prstGeom prst="ellipse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72821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0372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3E33"/>
                </a:solidFill>
              </a:rPr>
              <a:t>Link finance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03720" y="199339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445D55"/>
                </a:solidFill>
              </a:rPr>
              <a:t>Match capital to enterprise need and affordability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098280" y="1600200"/>
            <a:ext cx="502920" cy="502920"/>
          </a:xfrm>
          <a:prstGeom prst="ellipse">
            <a:avLst/>
          </a:prstGeom>
          <a:solidFill>
            <a:srgbClr val="D8A02B"/>
          </a:solidFill>
          <a:ln w="12700">
            <a:solidFill>
              <a:srgbClr val="D8A0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98280" y="172821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73836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3E33"/>
                </a:solidFill>
              </a:rPr>
              <a:t>Integrate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738360" y="199339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445D55"/>
                </a:solidFill>
              </a:rPr>
              <a:t>Technical support, markets and specialist partners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94360" y="3657600"/>
            <a:ext cx="502920" cy="502920"/>
          </a:xfrm>
          <a:prstGeom prst="ellipse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78561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34440" y="3675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3E33"/>
                </a:solidFill>
              </a:rPr>
              <a:t>Verify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34440" y="405079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445D55"/>
                </a:solidFill>
              </a:rPr>
              <a:t>Safeguards, controls, quality and participant feedback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429000" y="3657600"/>
            <a:ext cx="502920" cy="502920"/>
          </a:xfrm>
          <a:prstGeom prst="ellipse">
            <a:avLst/>
          </a:prstGeom>
          <a:solidFill>
            <a:srgbClr val="1F6A52"/>
          </a:solidFill>
          <a:ln w="12700">
            <a:solidFill>
              <a:srgbClr val="1F6A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378561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69080" y="3675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3E33"/>
                </a:solidFill>
              </a:rPr>
              <a:t>Evidence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69080" y="405079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445D55"/>
                </a:solidFill>
              </a:rPr>
              <a:t>Outcomes, additionality and value for money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263640" y="3657600"/>
            <a:ext cx="502920" cy="502920"/>
          </a:xfrm>
          <a:prstGeom prst="ellipse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378561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03720" y="3675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3E33"/>
                </a:solidFill>
              </a:rPr>
              <a:t>Review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03720" y="405079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445D55"/>
                </a:solidFill>
              </a:rPr>
              <a:t>Learn, adapt and document decisions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098280" y="3657600"/>
            <a:ext cx="502920" cy="502920"/>
          </a:xfrm>
          <a:prstGeom prst="ellipse">
            <a:avLst/>
          </a:prstGeom>
          <a:solidFill>
            <a:srgbClr val="D8A02B"/>
          </a:solidFill>
          <a:ln w="12700">
            <a:solidFill>
              <a:srgbClr val="D8A0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98280" y="378561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38360" y="36758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3E33"/>
                </a:solidFill>
              </a:rPr>
              <a:t>Scale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738360" y="405079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445D55"/>
                </a:solidFill>
              </a:rPr>
              <a:t>Expand, transfer or transition what works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097280" y="5577840"/>
            <a:ext cx="9966960" cy="566928"/>
          </a:xfrm>
          <a:prstGeom prst="roundRect">
            <a:avLst>
              <a:gd name="adj" fmla="val 8065"/>
            </a:avLst>
          </a:prstGeom>
          <a:solidFill>
            <a:srgbClr val="FCE1D5"/>
          </a:solidFill>
          <a:ln w="12700">
            <a:solidFill>
              <a:srgbClr val="FCE1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25880" y="576072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3E33"/>
                </a:solidFill>
              </a:rPr>
              <a:t>Every stage has a defined owner, evidence requirement, decision point and participant-protection boundary.</a:t>
            </a:r>
            <a:endParaRPr lang="en-US" sz="11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123E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23E33"/>
                </a:solidFill>
              </a:rPr>
              <a:t>The participant journey links inclusion to improved livelihoods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D55"/>
                </a:solidFill>
              </a:rPr>
              <a:t>Finance enters at the right point in a sequenced pathway, and progression is defined by the enterprise’s next viable step.</a:t>
            </a:r>
            <a:endParaRPr lang="en-US" sz="1050" dirty="0"/>
          </a:p>
        </p:txBody>
      </p:sp>
      <p:pic>
        <p:nvPicPr>
          <p:cNvPr id="4" name="Image 0" descr="/mnt/data/jifi_redesign_work/media/image9.jpeg"/>
          <p:cNvPicPr>
            <a:picLocks noChangeAspect="1"/>
          </p:cNvPicPr>
          <p:nvPr/>
        </p:nvPicPr>
        <p:blipFill>
          <a:blip r:embed="rId3"/>
          <a:srcRect l="27551" r="27551"/>
          <a:stretch/>
        </p:blipFill>
        <p:spPr>
          <a:xfrm>
            <a:off x="502920" y="1600200"/>
            <a:ext cx="301752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5824728"/>
            <a:ext cx="3017520" cy="256032"/>
          </a:xfrm>
          <a:prstGeom prst="rect">
            <a:avLst/>
          </a:prstGeom>
          <a:solidFill>
            <a:srgbClr val="0E493C">
              <a:alpha val="90000"/>
            </a:srgbClr>
          </a:solidFill>
          <a:ln w="12700">
            <a:solidFill>
              <a:srgbClr val="0E493C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5907024"/>
            <a:ext cx="28346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" dirty="0">
                <a:solidFill>
                  <a:srgbClr val="FFFFFF"/>
                </a:solidFill>
              </a:rPr>
              <a:t>Enterprise journey | Kenya, 2026</a:t>
            </a:r>
            <a:endParaRPr lang="en-US" sz="520" dirty="0"/>
          </a:p>
        </p:txBody>
      </p:sp>
      <p:sp>
        <p:nvSpPr>
          <p:cNvPr id="7" name="Shape 4"/>
          <p:cNvSpPr/>
          <p:nvPr/>
        </p:nvSpPr>
        <p:spPr>
          <a:xfrm>
            <a:off x="3794760" y="1691640"/>
            <a:ext cx="1755648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794760" y="1691640"/>
            <a:ext cx="54864" cy="1444752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59352" y="182880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1  Identify</a:t>
            </a:r>
            <a:endParaRPr lang="en-US" sz="1060" dirty="0"/>
          </a:p>
        </p:txBody>
      </p:sp>
      <p:sp>
        <p:nvSpPr>
          <p:cNvPr id="10" name="Text 7"/>
          <p:cNvSpPr/>
          <p:nvPr/>
        </p:nvSpPr>
        <p:spPr>
          <a:xfrm>
            <a:off x="3959352" y="2148840"/>
            <a:ext cx="144475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Transparent eligibility</a:t>
            </a:r>
            <a:endParaRPr lang="en-US" sz="840" dirty="0"/>
          </a:p>
        </p:txBody>
      </p:sp>
      <p:sp>
        <p:nvSpPr>
          <p:cNvPr id="11" name="Shape 8"/>
          <p:cNvSpPr/>
          <p:nvPr/>
        </p:nvSpPr>
        <p:spPr>
          <a:xfrm>
            <a:off x="5760720" y="1691640"/>
            <a:ext cx="1755648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60720" y="1691640"/>
            <a:ext cx="54864" cy="1444752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25312" y="182880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2  Segment</a:t>
            </a:r>
            <a:endParaRPr lang="en-US" sz="1060" dirty="0"/>
          </a:p>
        </p:txBody>
      </p:sp>
      <p:sp>
        <p:nvSpPr>
          <p:cNvPr id="14" name="Text 11"/>
          <p:cNvSpPr/>
          <p:nvPr/>
        </p:nvSpPr>
        <p:spPr>
          <a:xfrm>
            <a:off x="5925312" y="2148840"/>
            <a:ext cx="144475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Role, maturity and vulnerability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7726680" y="1691640"/>
            <a:ext cx="1755648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726680" y="1691640"/>
            <a:ext cx="54864" cy="1444752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91272" y="182880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3  Diagnose</a:t>
            </a:r>
            <a:endParaRPr lang="en-US" sz="1060" dirty="0"/>
          </a:p>
        </p:txBody>
      </p:sp>
      <p:sp>
        <p:nvSpPr>
          <p:cNvPr id="18" name="Text 15"/>
          <p:cNvSpPr/>
          <p:nvPr/>
        </p:nvSpPr>
        <p:spPr>
          <a:xfrm>
            <a:off x="7891272" y="2148840"/>
            <a:ext cx="144475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Cash flow and binding constraints</a:t>
            </a:r>
            <a:endParaRPr lang="en-US" sz="840" dirty="0"/>
          </a:p>
        </p:txBody>
      </p:sp>
      <p:sp>
        <p:nvSpPr>
          <p:cNvPr id="19" name="Shape 16"/>
          <p:cNvSpPr/>
          <p:nvPr/>
        </p:nvSpPr>
        <p:spPr>
          <a:xfrm>
            <a:off x="9692640" y="1691640"/>
            <a:ext cx="1755648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692640" y="1691640"/>
            <a:ext cx="54864" cy="1444752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57232" y="182880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4  Prepare</a:t>
            </a:r>
            <a:endParaRPr lang="en-US" sz="1060" dirty="0"/>
          </a:p>
        </p:txBody>
      </p:sp>
      <p:sp>
        <p:nvSpPr>
          <p:cNvPr id="22" name="Text 19"/>
          <p:cNvSpPr/>
          <p:nvPr/>
        </p:nvSpPr>
        <p:spPr>
          <a:xfrm>
            <a:off x="9857232" y="2148840"/>
            <a:ext cx="144475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Records and support plan</a:t>
            </a:r>
            <a:endParaRPr lang="en-US" sz="840" dirty="0"/>
          </a:p>
        </p:txBody>
      </p:sp>
      <p:sp>
        <p:nvSpPr>
          <p:cNvPr id="23" name="Shape 20"/>
          <p:cNvSpPr/>
          <p:nvPr/>
        </p:nvSpPr>
        <p:spPr>
          <a:xfrm>
            <a:off x="3794760" y="3657600"/>
            <a:ext cx="1755648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794760" y="3657600"/>
            <a:ext cx="54864" cy="1444752"/>
          </a:xfrm>
          <a:prstGeom prst="rect">
            <a:avLst/>
          </a:prstGeom>
          <a:solidFill>
            <a:srgbClr val="1F6A52"/>
          </a:solidFill>
          <a:ln w="12700">
            <a:solidFill>
              <a:srgbClr val="1F6A5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959352" y="379476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5  Finance</a:t>
            </a:r>
            <a:endParaRPr lang="en-US" sz="1060" dirty="0"/>
          </a:p>
        </p:txBody>
      </p:sp>
      <p:sp>
        <p:nvSpPr>
          <p:cNvPr id="26" name="Text 23"/>
          <p:cNvSpPr/>
          <p:nvPr/>
        </p:nvSpPr>
        <p:spPr>
          <a:xfrm>
            <a:off x="3959352" y="4114800"/>
            <a:ext cx="144475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Suitable capital or non-credit path</a:t>
            </a:r>
            <a:endParaRPr lang="en-US" sz="840" dirty="0"/>
          </a:p>
        </p:txBody>
      </p:sp>
      <p:sp>
        <p:nvSpPr>
          <p:cNvPr id="27" name="Shape 24"/>
          <p:cNvSpPr/>
          <p:nvPr/>
        </p:nvSpPr>
        <p:spPr>
          <a:xfrm>
            <a:off x="5760720" y="3657600"/>
            <a:ext cx="1755648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760720" y="3657600"/>
            <a:ext cx="54864" cy="1444752"/>
          </a:xfrm>
          <a:prstGeom prst="rect">
            <a:avLst/>
          </a:prstGeom>
          <a:solidFill>
            <a:srgbClr val="1F6A52"/>
          </a:solidFill>
          <a:ln w="12700">
            <a:solidFill>
              <a:srgbClr val="1F6A5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25312" y="379476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6  Connect</a:t>
            </a:r>
            <a:endParaRPr lang="en-US" sz="1060" dirty="0"/>
          </a:p>
        </p:txBody>
      </p:sp>
      <p:sp>
        <p:nvSpPr>
          <p:cNvPr id="30" name="Text 27"/>
          <p:cNvSpPr/>
          <p:nvPr/>
        </p:nvSpPr>
        <p:spPr>
          <a:xfrm>
            <a:off x="5925312" y="4114800"/>
            <a:ext cx="144475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Markets, suppliers and services</a:t>
            </a:r>
            <a:endParaRPr lang="en-US" sz="840" dirty="0"/>
          </a:p>
        </p:txBody>
      </p:sp>
      <p:sp>
        <p:nvSpPr>
          <p:cNvPr id="31" name="Shape 28"/>
          <p:cNvSpPr/>
          <p:nvPr/>
        </p:nvSpPr>
        <p:spPr>
          <a:xfrm>
            <a:off x="7726680" y="3657600"/>
            <a:ext cx="1755648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7726680" y="3657600"/>
            <a:ext cx="54864" cy="1444752"/>
          </a:xfrm>
          <a:prstGeom prst="rect">
            <a:avLst/>
          </a:prstGeom>
          <a:solidFill>
            <a:srgbClr val="1F6A52"/>
          </a:solidFill>
          <a:ln w="12700">
            <a:solidFill>
              <a:srgbClr val="1F6A5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891272" y="379476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7  Measure</a:t>
            </a:r>
            <a:endParaRPr lang="en-US" sz="1060" dirty="0"/>
          </a:p>
        </p:txBody>
      </p:sp>
      <p:sp>
        <p:nvSpPr>
          <p:cNvPr id="34" name="Text 31"/>
          <p:cNvSpPr/>
          <p:nvPr/>
        </p:nvSpPr>
        <p:spPr>
          <a:xfrm>
            <a:off x="7891272" y="4114800"/>
            <a:ext cx="144475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Enterprise, participant and market outcomes</a:t>
            </a:r>
            <a:endParaRPr lang="en-US" sz="840" dirty="0"/>
          </a:p>
        </p:txBody>
      </p:sp>
      <p:sp>
        <p:nvSpPr>
          <p:cNvPr id="35" name="Shape 32"/>
          <p:cNvSpPr/>
          <p:nvPr/>
        </p:nvSpPr>
        <p:spPr>
          <a:xfrm>
            <a:off x="9692640" y="3657600"/>
            <a:ext cx="1755648" cy="1444752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9692640" y="3657600"/>
            <a:ext cx="54864" cy="1444752"/>
          </a:xfrm>
          <a:prstGeom prst="rect">
            <a:avLst/>
          </a:prstGeom>
          <a:solidFill>
            <a:srgbClr val="1F6A52"/>
          </a:solidFill>
          <a:ln w="12700">
            <a:solidFill>
              <a:srgbClr val="1F6A5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857232" y="379476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8  Progress</a:t>
            </a:r>
            <a:endParaRPr lang="en-US" sz="1060" dirty="0"/>
          </a:p>
        </p:txBody>
      </p:sp>
      <p:sp>
        <p:nvSpPr>
          <p:cNvPr id="38" name="Text 35"/>
          <p:cNvSpPr/>
          <p:nvPr/>
        </p:nvSpPr>
        <p:spPr>
          <a:xfrm>
            <a:off x="9857232" y="4114800"/>
            <a:ext cx="144475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Repeat, onward or independent finance</a:t>
            </a:r>
            <a:endParaRPr lang="en-US" sz="840" dirty="0"/>
          </a:p>
        </p:txBody>
      </p:sp>
      <p:sp>
        <p:nvSpPr>
          <p:cNvPr id="39" name="Shape 36"/>
          <p:cNvSpPr/>
          <p:nvPr/>
        </p:nvSpPr>
        <p:spPr>
          <a:xfrm>
            <a:off x="3794760" y="5577840"/>
            <a:ext cx="7635240" cy="502920"/>
          </a:xfrm>
          <a:prstGeom prst="roundRect">
            <a:avLst>
              <a:gd name="adj" fmla="val 7273"/>
            </a:avLst>
          </a:prstGeom>
          <a:solidFill>
            <a:srgbClr val="0E493C"/>
          </a:solidFill>
          <a:ln w="12700">
            <a:solidFill>
              <a:srgbClr val="0E493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023360" y="5751576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Successful progression may mean stronger savings, better records, market access, suitable finance or stable self-financed growth.</a:t>
            </a:r>
            <a:endParaRPr lang="en-US" sz="10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123E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One delivery architecture. Clear roles. Visible accountability.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7E5DE"/>
                </a:solidFill>
              </a:rPr>
              <a:t>JIFI integrates the programme while capital, technical support, market functions and assurance remain explicitly governed.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06040" cy="1143000"/>
          </a:xfrm>
          <a:prstGeom prst="roundRect">
            <a:avLst>
              <a:gd name="adj" fmla="val 4000"/>
            </a:avLst>
          </a:prstGeom>
          <a:solidFill>
            <a:srgbClr val="0E493C"/>
          </a:solidFill>
          <a:ln w="8890">
            <a:solidFill>
              <a:srgbClr val="3B7568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54480"/>
            <a:ext cx="54864" cy="114300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69164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PARTNER MANDATE</a:t>
            </a:r>
            <a:endParaRPr lang="en-US" sz="1060" dirty="0"/>
          </a:p>
        </p:txBody>
      </p:sp>
      <p:sp>
        <p:nvSpPr>
          <p:cNvPr id="7" name="Text 5"/>
          <p:cNvSpPr/>
          <p:nvPr/>
        </p:nvSpPr>
        <p:spPr>
          <a:xfrm>
            <a:off x="667512" y="2011680"/>
            <a:ext cx="229514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D7E5DE"/>
                </a:solidFill>
              </a:rPr>
              <a:t>Outcomes, target segment, eligible uses and evidence standard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2606040" cy="1143000"/>
          </a:xfrm>
          <a:prstGeom prst="roundRect">
            <a:avLst>
              <a:gd name="adj" fmla="val 4000"/>
            </a:avLst>
          </a:prstGeom>
          <a:solidFill>
            <a:srgbClr val="0E493C"/>
          </a:solidFill>
          <a:ln w="8890">
            <a:solidFill>
              <a:srgbClr val="3B7568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554480"/>
            <a:ext cx="54864" cy="1143000"/>
          </a:xfrm>
          <a:prstGeom prst="rect">
            <a:avLst/>
          </a:prstGeom>
          <a:solidFill>
            <a:srgbClr val="1F6A52"/>
          </a:solidFill>
          <a:ln w="12700">
            <a:solidFill>
              <a:srgbClr val="1F6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7872" y="169164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PROGRAMME RESOURCES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3547872" y="2011680"/>
            <a:ext cx="229514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D7E5DE"/>
                </a:solidFill>
              </a:rPr>
              <a:t>Participant capital, technical assistance, delivery and evidence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6263640" y="1554480"/>
            <a:ext cx="2606040" cy="1143000"/>
          </a:xfrm>
          <a:prstGeom prst="roundRect">
            <a:avLst>
              <a:gd name="adj" fmla="val 4000"/>
            </a:avLst>
          </a:prstGeom>
          <a:solidFill>
            <a:srgbClr val="0E493C"/>
          </a:solidFill>
          <a:ln w="8890">
            <a:solidFill>
              <a:srgbClr val="3B7568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554480"/>
            <a:ext cx="54864" cy="114300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169164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MARKET &amp; TECHNICAL ACTORS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6428232" y="2011680"/>
            <a:ext cx="229514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D7E5DE"/>
                </a:solidFill>
              </a:rPr>
              <a:t>Buyers, specialists, insurers, researchers and public actors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9144000" y="1554480"/>
            <a:ext cx="2606040" cy="1143000"/>
          </a:xfrm>
          <a:prstGeom prst="roundRect">
            <a:avLst>
              <a:gd name="adj" fmla="val 4000"/>
            </a:avLst>
          </a:prstGeom>
          <a:solidFill>
            <a:srgbClr val="0E493C"/>
          </a:solidFill>
          <a:ln w="8890">
            <a:solidFill>
              <a:srgbClr val="3B7568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0" y="1554480"/>
            <a:ext cx="54864" cy="1143000"/>
          </a:xfrm>
          <a:prstGeom prst="rect">
            <a:avLst/>
          </a:prstGeom>
          <a:solidFill>
            <a:srgbClr val="D8A02B"/>
          </a:solidFill>
          <a:ln w="12700">
            <a:solidFill>
              <a:srgbClr val="D8A0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08592" y="169164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JAZA PLATFORM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9308592" y="2011680"/>
            <a:ext cx="229514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D7E5DE"/>
                </a:solidFill>
              </a:rPr>
              <a:t>Branches, enterprise relationships, credit rails, data and servicing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960120" y="3154680"/>
            <a:ext cx="102412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335584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15A24"/>
                </a:solidFill>
              </a:rPr>
              <a:t>JIFI PROGRAMME INTEGRATION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60520" y="3319272"/>
            <a:ext cx="6629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3E33"/>
                </a:solidFill>
              </a:rPr>
              <a:t>Programme design • participant journey • partner coordination • safeguards • resource administration • reporting and learning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4617720"/>
            <a:ext cx="2057400" cy="1097280"/>
          </a:xfrm>
          <a:prstGeom prst="roundRect">
            <a:avLst>
              <a:gd name="adj" fmla="val 4167"/>
            </a:avLst>
          </a:prstGeom>
          <a:solidFill>
            <a:srgbClr val="0E493C"/>
          </a:solidFill>
          <a:ln w="8890">
            <a:solidFill>
              <a:srgbClr val="3B7568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4617720"/>
            <a:ext cx="54864" cy="10972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475488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PARTICIPANT CAPITAL</a:t>
            </a:r>
            <a:endParaRPr lang="en-US" sz="1060" dirty="0"/>
          </a:p>
        </p:txBody>
      </p:sp>
      <p:sp>
        <p:nvSpPr>
          <p:cNvPr id="26" name="Text 24"/>
          <p:cNvSpPr/>
          <p:nvPr/>
        </p:nvSpPr>
        <p:spPr>
          <a:xfrm>
            <a:off x="667512" y="5074920"/>
            <a:ext cx="174650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D7E5DE"/>
                </a:solidFill>
              </a:rPr>
              <a:t>Separate use, ledger and reporting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2807208" y="4617720"/>
            <a:ext cx="2057400" cy="1097280"/>
          </a:xfrm>
          <a:prstGeom prst="roundRect">
            <a:avLst>
              <a:gd name="adj" fmla="val 4167"/>
            </a:avLst>
          </a:prstGeom>
          <a:solidFill>
            <a:srgbClr val="0E493C"/>
          </a:solidFill>
          <a:ln w="8890">
            <a:solidFill>
              <a:srgbClr val="3B7568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807208" y="4617720"/>
            <a:ext cx="54864" cy="1097280"/>
          </a:xfrm>
          <a:prstGeom prst="rect">
            <a:avLst/>
          </a:prstGeom>
          <a:solidFill>
            <a:srgbClr val="1F6A52"/>
          </a:solidFill>
          <a:ln w="12700">
            <a:solidFill>
              <a:srgbClr val="1F6A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71800" y="475488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TECHNICAL ASSISTANCE</a:t>
            </a:r>
            <a:endParaRPr lang="en-US" sz="1060" dirty="0"/>
          </a:p>
        </p:txBody>
      </p:sp>
      <p:sp>
        <p:nvSpPr>
          <p:cNvPr id="30" name="Text 28"/>
          <p:cNvSpPr/>
          <p:nvPr/>
        </p:nvSpPr>
        <p:spPr>
          <a:xfrm>
            <a:off x="2971800" y="5074920"/>
            <a:ext cx="174650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D7E5DE"/>
                </a:solidFill>
              </a:rPr>
              <a:t>Specialist and enterprise support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5111496" y="4617720"/>
            <a:ext cx="2057400" cy="1097280"/>
          </a:xfrm>
          <a:prstGeom prst="roundRect">
            <a:avLst>
              <a:gd name="adj" fmla="val 4167"/>
            </a:avLst>
          </a:prstGeom>
          <a:solidFill>
            <a:srgbClr val="0E493C"/>
          </a:solidFill>
          <a:ln w="8890">
            <a:solidFill>
              <a:srgbClr val="3B7568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111496" y="4617720"/>
            <a:ext cx="54864" cy="109728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76088" y="475488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DELIVERY FEES</a:t>
            </a:r>
            <a:endParaRPr lang="en-US" sz="1060" dirty="0"/>
          </a:p>
        </p:txBody>
      </p:sp>
      <p:sp>
        <p:nvSpPr>
          <p:cNvPr id="34" name="Text 32"/>
          <p:cNvSpPr/>
          <p:nvPr/>
        </p:nvSpPr>
        <p:spPr>
          <a:xfrm>
            <a:off x="5276088" y="5074920"/>
            <a:ext cx="174650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D7E5DE"/>
                </a:solidFill>
              </a:rPr>
              <a:t>Field execution and case management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7415784" y="4617720"/>
            <a:ext cx="2057400" cy="1097280"/>
          </a:xfrm>
          <a:prstGeom prst="roundRect">
            <a:avLst>
              <a:gd name="adj" fmla="val 4167"/>
            </a:avLst>
          </a:prstGeom>
          <a:solidFill>
            <a:srgbClr val="0E493C"/>
          </a:solidFill>
          <a:ln w="8890">
            <a:solidFill>
              <a:srgbClr val="3B7568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15784" y="4617720"/>
            <a:ext cx="54864" cy="1097280"/>
          </a:xfrm>
          <a:prstGeom prst="rect">
            <a:avLst/>
          </a:prstGeom>
          <a:solidFill>
            <a:srgbClr val="D8A02B"/>
          </a:solidFill>
          <a:ln w="12700">
            <a:solidFill>
              <a:srgbClr val="D8A0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0376" y="475488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MEL &amp; ASSURANCE</a:t>
            </a:r>
            <a:endParaRPr lang="en-US" sz="1060" dirty="0"/>
          </a:p>
        </p:txBody>
      </p:sp>
      <p:sp>
        <p:nvSpPr>
          <p:cNvPr id="38" name="Text 36"/>
          <p:cNvSpPr/>
          <p:nvPr/>
        </p:nvSpPr>
        <p:spPr>
          <a:xfrm>
            <a:off x="7580376" y="5074920"/>
            <a:ext cx="174650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D7E5DE"/>
                </a:solidFill>
              </a:rPr>
              <a:t>Baseline, data quality, safeguards and outcomes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9720072" y="4617720"/>
            <a:ext cx="2057400" cy="1097280"/>
          </a:xfrm>
          <a:prstGeom prst="roundRect">
            <a:avLst>
              <a:gd name="adj" fmla="val 4167"/>
            </a:avLst>
          </a:prstGeom>
          <a:solidFill>
            <a:srgbClr val="0E493C"/>
          </a:solidFill>
          <a:ln w="8890">
            <a:solidFill>
              <a:srgbClr val="3B7568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720072" y="4617720"/>
            <a:ext cx="54864" cy="1097280"/>
          </a:xfrm>
          <a:prstGeom prst="rect">
            <a:avLst/>
          </a:prstGeom>
          <a:solidFill>
            <a:srgbClr val="C66A47"/>
          </a:solidFill>
          <a:ln w="12700">
            <a:solidFill>
              <a:srgbClr val="C66A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84664" y="475488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RISK ARRANGEMENT</a:t>
            </a:r>
            <a:endParaRPr lang="en-US" sz="1060" dirty="0"/>
          </a:p>
        </p:txBody>
      </p:sp>
      <p:sp>
        <p:nvSpPr>
          <p:cNvPr id="42" name="Text 40"/>
          <p:cNvSpPr/>
          <p:nvPr/>
        </p:nvSpPr>
        <p:spPr>
          <a:xfrm>
            <a:off x="9884664" y="5074920"/>
            <a:ext cx="174650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D7E5DE"/>
                </a:solidFill>
              </a:rPr>
              <a:t>Only where contracted and defined</a:t>
            </a:r>
            <a:endParaRPr lang="en-US" sz="84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23E33"/>
                </a:solidFill>
              </a:rPr>
              <a:t>Jaza’s operating platform makes last-mile delivery practical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D55"/>
                </a:solidFill>
              </a:rPr>
              <a:t>JIFI uses existing financial and field infrastructure while adding ring-fenced programme capabilities and partner assurance.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617720" y="1600200"/>
            <a:ext cx="31546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617720" y="1600200"/>
            <a:ext cx="54864" cy="105156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82312" y="173736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17</a:t>
            </a:r>
            <a:endParaRPr lang="en-US" sz="1060" dirty="0"/>
          </a:p>
        </p:txBody>
      </p:sp>
      <p:sp>
        <p:nvSpPr>
          <p:cNvPr id="7" name="Text 5"/>
          <p:cNvSpPr/>
          <p:nvPr/>
        </p:nvSpPr>
        <p:spPr>
          <a:xfrm>
            <a:off x="4782312" y="2057400"/>
            <a:ext cx="284378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reported branch delivery points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8046720" y="1600200"/>
            <a:ext cx="31546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0" y="1600200"/>
            <a:ext cx="54864" cy="1051560"/>
          </a:xfrm>
          <a:prstGeom prst="rect">
            <a:avLst/>
          </a:prstGeom>
          <a:solidFill>
            <a:srgbClr val="1F6A52"/>
          </a:solidFill>
          <a:ln w="12700">
            <a:solidFill>
              <a:srgbClr val="1F6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11312" y="173736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10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8211312" y="2057400"/>
            <a:ext cx="284378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counties with direct presence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4617720" y="2926080"/>
            <a:ext cx="31546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2926080"/>
            <a:ext cx="54864" cy="1051560"/>
          </a:xfrm>
          <a:prstGeom prst="rect">
            <a:avLst/>
          </a:prstGeom>
          <a:solidFill>
            <a:srgbClr val="D8A02B"/>
          </a:solidFill>
          <a:ln w="12700">
            <a:solidFill>
              <a:srgbClr val="D8A0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306324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104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4782312" y="3383280"/>
            <a:ext cx="284378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staff across field, credit and operations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8046720" y="2926080"/>
            <a:ext cx="31546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0" y="2926080"/>
            <a:ext cx="54864" cy="105156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1312" y="306324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41,264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8211312" y="3383280"/>
            <a:ext cx="284378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recorded disbursements, not unique enterprises</a:t>
            </a:r>
            <a:endParaRPr lang="en-US" sz="840" dirty="0"/>
          </a:p>
        </p:txBody>
      </p:sp>
      <p:pic>
        <p:nvPicPr>
          <p:cNvPr id="20" name="Image 0" descr="/mnt/data/jifi_redesign_work/media/image1.jpeg"/>
          <p:cNvPicPr>
            <a:picLocks noChangeAspect="1"/>
          </p:cNvPicPr>
          <p:nvPr/>
        </p:nvPicPr>
        <p:blipFill>
          <a:blip r:embed="rId3"/>
          <a:srcRect l="17339" r="17339"/>
          <a:stretch/>
        </p:blipFill>
        <p:spPr>
          <a:xfrm>
            <a:off x="502920" y="1600200"/>
            <a:ext cx="3703320" cy="425196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02920" y="5596128"/>
            <a:ext cx="3703320" cy="256032"/>
          </a:xfrm>
          <a:prstGeom prst="rect">
            <a:avLst/>
          </a:prstGeom>
          <a:solidFill>
            <a:srgbClr val="0E493C">
              <a:alpha val="90000"/>
            </a:srgbClr>
          </a:solidFill>
          <a:ln w="12700">
            <a:solidFill>
              <a:srgbClr val="0E493C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360" y="5678424"/>
            <a:ext cx="35204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" dirty="0">
                <a:solidFill>
                  <a:srgbClr val="FFFFFF"/>
                </a:solidFill>
              </a:rPr>
              <a:t>Jaza field engagement | Kenya, 2026</a:t>
            </a:r>
            <a:endParaRPr lang="en-US" sz="520" dirty="0"/>
          </a:p>
        </p:txBody>
      </p:sp>
      <p:sp>
        <p:nvSpPr>
          <p:cNvPr id="23" name="Shape 20"/>
          <p:cNvSpPr/>
          <p:nvPr/>
        </p:nvSpPr>
        <p:spPr>
          <a:xfrm>
            <a:off x="4617720" y="4572000"/>
            <a:ext cx="3154680" cy="292608"/>
          </a:xfrm>
          <a:prstGeom prst="roundRect">
            <a:avLst>
              <a:gd name="adj" fmla="val 25000"/>
            </a:avLst>
          </a:prstGeom>
          <a:solidFill>
            <a:srgbClr val="EAF2EE"/>
          </a:solidFill>
          <a:ln w="12700">
            <a:solidFill>
              <a:srgbClr val="EAF2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90872" y="4636008"/>
            <a:ext cx="3008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23E33"/>
                </a:solidFill>
              </a:rPr>
              <a:t>FIELD  |  Local sourcing, visits and relationships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046720" y="4572000"/>
            <a:ext cx="3154680" cy="292608"/>
          </a:xfrm>
          <a:prstGeom prst="roundRect">
            <a:avLst>
              <a:gd name="adj" fmla="val 25000"/>
            </a:avLst>
          </a:prstGeom>
          <a:solidFill>
            <a:srgbClr val="EAF2EE"/>
          </a:solidFill>
          <a:ln w="12700">
            <a:solidFill>
              <a:srgbClr val="EAF2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19872" y="4636008"/>
            <a:ext cx="3008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23E33"/>
                </a:solidFill>
              </a:rPr>
              <a:t>CREDIT  |  Assessment, approval, disbursement and servicing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4617720" y="5120640"/>
            <a:ext cx="3154680" cy="292608"/>
          </a:xfrm>
          <a:prstGeom prst="roundRect">
            <a:avLst>
              <a:gd name="adj" fmla="val 25000"/>
            </a:avLst>
          </a:prstGeom>
          <a:solidFill>
            <a:srgbClr val="EAF2EE"/>
          </a:solidFill>
          <a:ln w="12700">
            <a:solidFill>
              <a:srgbClr val="EAF2E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90872" y="5184648"/>
            <a:ext cx="3008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23E33"/>
                </a:solidFill>
              </a:rPr>
              <a:t>DATA  |  Central records, transaction history and performance visibility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8046720" y="5120640"/>
            <a:ext cx="3154680" cy="292608"/>
          </a:xfrm>
          <a:prstGeom prst="roundRect">
            <a:avLst>
              <a:gd name="adj" fmla="val 25000"/>
            </a:avLst>
          </a:prstGeom>
          <a:solidFill>
            <a:srgbClr val="EAF2EE"/>
          </a:solidFill>
          <a:ln w="12700">
            <a:solidFill>
              <a:srgbClr val="EAF2E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119872" y="5184648"/>
            <a:ext cx="3008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23E33"/>
                </a:solidFill>
              </a:rPr>
              <a:t>REACH  |  Direct engagement with predominantly women-led nano and micro enterprises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777240" y="5989320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15A24"/>
                </a:solidFill>
              </a:rPr>
              <a:t>Assurance condition: reconcile platform figures and independently test governance, system access, portfolio definitions and financial controls before external commitments or scale.</a:t>
            </a:r>
            <a:endParaRPr lang="en-US" sz="9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123E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23E33"/>
                </a:solidFill>
              </a:rPr>
              <a:t>Outcomes partners can commission and verify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D55"/>
                </a:solidFill>
              </a:rPr>
              <a:t>Programmes are designed backward from the development change they must produce.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2578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54480"/>
            <a:ext cx="54864" cy="114300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691640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Enterprise performance</a:t>
            </a:r>
            <a:endParaRPr lang="en-US" sz="1060" dirty="0"/>
          </a:p>
        </p:txBody>
      </p:sp>
      <p:sp>
        <p:nvSpPr>
          <p:cNvPr id="7" name="Text 5"/>
          <p:cNvSpPr/>
          <p:nvPr/>
        </p:nvSpPr>
        <p:spPr>
          <a:xfrm>
            <a:off x="758952" y="2011680"/>
            <a:ext cx="494690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Productivity, value addition, sales, margins, assets and continuity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2578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554480"/>
            <a:ext cx="54864" cy="1143000"/>
          </a:xfrm>
          <a:prstGeom prst="rect">
            <a:avLst/>
          </a:prstGeom>
          <a:solidFill>
            <a:srgbClr val="1F6A52"/>
          </a:solidFill>
          <a:ln w="12700">
            <a:solidFill>
              <a:srgbClr val="1F6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1691640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Financial wellbeing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6382512" y="2011680"/>
            <a:ext cx="494690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Savings, buffers, debt stress and suitable investment progression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594360" y="2971800"/>
            <a:ext cx="52578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971800"/>
            <a:ext cx="54864" cy="114300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3108960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Women’s economic participation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758952" y="3429000"/>
            <a:ext cx="494690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Benefit, voice, agency and control of income and assets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6217920" y="2971800"/>
            <a:ext cx="52578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2971800"/>
            <a:ext cx="54864" cy="1143000"/>
          </a:xfrm>
          <a:prstGeom prst="rect">
            <a:avLst/>
          </a:prstGeom>
          <a:solidFill>
            <a:srgbClr val="D8A02B"/>
          </a:solidFill>
          <a:ln w="12700">
            <a:solidFill>
              <a:srgbClr val="D8A0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3108960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Youth opportunity and jobs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6382512" y="3429000"/>
            <a:ext cx="494690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Viable roles, enterprise services, job creation and decent work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594360" y="4389120"/>
            <a:ext cx="52578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4389120"/>
            <a:ext cx="54864" cy="1143000"/>
          </a:xfrm>
          <a:prstGeom prst="rect">
            <a:avLst/>
          </a:prstGeom>
          <a:solidFill>
            <a:srgbClr val="75A99C"/>
          </a:solidFill>
          <a:ln w="12700">
            <a:solidFill>
              <a:srgbClr val="75A99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4526280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Market participation</a:t>
            </a:r>
            <a:endParaRPr lang="en-US" sz="1060" dirty="0"/>
          </a:p>
        </p:txBody>
      </p:sp>
      <p:sp>
        <p:nvSpPr>
          <p:cNvPr id="23" name="Text 21"/>
          <p:cNvSpPr/>
          <p:nvPr/>
        </p:nvSpPr>
        <p:spPr>
          <a:xfrm>
            <a:off x="758952" y="4846320"/>
            <a:ext cx="494690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Buyers, suppliers, standards, repeat transactions and reduced losses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6217920" y="4389120"/>
            <a:ext cx="52578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4389120"/>
            <a:ext cx="54864" cy="1143000"/>
          </a:xfrm>
          <a:prstGeom prst="rect">
            <a:avLst/>
          </a:prstGeom>
          <a:solidFill>
            <a:srgbClr val="C66A47"/>
          </a:solidFill>
          <a:ln w="12700">
            <a:solidFill>
              <a:srgbClr val="C66A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4526280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Climate resilience</a:t>
            </a:r>
            <a:endParaRPr lang="en-US" sz="1060" dirty="0"/>
          </a:p>
        </p:txBody>
      </p:sp>
      <p:sp>
        <p:nvSpPr>
          <p:cNvPr id="27" name="Text 25"/>
          <p:cNvSpPr/>
          <p:nvPr/>
        </p:nvSpPr>
        <p:spPr>
          <a:xfrm>
            <a:off x="6382512" y="4846320"/>
            <a:ext cx="494690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Reduced risk exposure and productive green or resilient asset use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1188720" y="5897880"/>
            <a:ext cx="9829800" cy="384048"/>
          </a:xfrm>
          <a:prstGeom prst="roundRect">
            <a:avLst>
              <a:gd name="adj" fmla="val 9524"/>
            </a:avLst>
          </a:prstGeom>
          <a:solidFill>
            <a:srgbClr val="0E493C"/>
          </a:solidFill>
          <a:ln w="12700">
            <a:solidFill>
              <a:srgbClr val="0E49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17320" y="6007608"/>
            <a:ext cx="9372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Ultimate development result: improved livelihoods and stronger, more resilient communities.</a:t>
            </a:r>
            <a:endParaRPr lang="en-US" sz="11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123E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23E33"/>
                </a:solidFill>
              </a:rPr>
              <a:t>Partners can commission the level of support their mandate requires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45D55"/>
                </a:solidFill>
              </a:rPr>
              <a:t>Each route produces a defined scope, delivery team, budget, capital boundary, evidence standard and decision point.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52044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645920"/>
            <a:ext cx="54864" cy="29260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78308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END-TO-END PROGRAMME</a:t>
            </a:r>
            <a:endParaRPr lang="en-US" sz="1060" dirty="0"/>
          </a:p>
        </p:txBody>
      </p:sp>
      <p:sp>
        <p:nvSpPr>
          <p:cNvPr id="7" name="Text 5"/>
          <p:cNvSpPr/>
          <p:nvPr/>
        </p:nvSpPr>
        <p:spPr>
          <a:xfrm>
            <a:off x="758952" y="2103120"/>
            <a:ext cx="3209544" cy="2359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JIFI designs and coordinates a complete inclusive-enterprise, livelihoods or value-chain programme from diagnosis and participant selection through support, finance, market linkage, safeguards and outcomes.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52044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645920"/>
            <a:ext cx="54864" cy="2926080"/>
          </a:xfrm>
          <a:prstGeom prst="rect">
            <a:avLst/>
          </a:prstGeom>
          <a:solidFill>
            <a:srgbClr val="1F6A52"/>
          </a:solidFill>
          <a:ln w="12700">
            <a:solidFill>
              <a:srgbClr val="1F6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78308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DELIVERY LAYER AROUND CAPITAL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4507992" y="2103120"/>
            <a:ext cx="3209544" cy="2359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JIFI adds last-mile targeting, needs assessment, enterprise support, market connections, participant protection and outcome evidence around a bank, DFI, guarantee or partner facility.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8092440" y="1645920"/>
            <a:ext cx="352044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8890">
            <a:solidFill>
              <a:srgbClr val="CFD9D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92440" y="1645920"/>
            <a:ext cx="54864" cy="2926080"/>
          </a:xfrm>
          <a:prstGeom prst="rect">
            <a:avLst/>
          </a:prstGeom>
          <a:solidFill>
            <a:srgbClr val="2E6F9E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7032" y="178308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23E33"/>
                </a:solidFill>
              </a:rPr>
              <a:t>DIAGNOSTIC &amp; PROGRAMME DESIGN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8257032" y="2103120"/>
            <a:ext cx="3209544" cy="2359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45D55"/>
                </a:solidFill>
              </a:rPr>
              <a:t>JIFI screens the opportunity, validates assumptions and produces the theory of change, intervention logic, instrument mix, implementation plan, budget, risk framework and measurement approach.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731520" y="48463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15A24"/>
                </a:solidFill>
              </a:rPr>
              <a:t>Initial commissioning options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880360" y="4983480"/>
            <a:ext cx="1874520" cy="292608"/>
          </a:xfrm>
          <a:prstGeom prst="roundRect">
            <a:avLst>
              <a:gd name="adj" fmla="val 25000"/>
            </a:avLst>
          </a:prstGeom>
          <a:solidFill>
            <a:srgbClr val="FCE1D5"/>
          </a:solidFill>
          <a:ln w="12700">
            <a:solidFill>
              <a:srgbClr val="FCE1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53512" y="5047488"/>
            <a:ext cx="1728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23E33"/>
                </a:solidFill>
              </a:rPr>
              <a:t>Controlled pilot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056632" y="4983480"/>
            <a:ext cx="1874520" cy="292608"/>
          </a:xfrm>
          <a:prstGeom prst="roundRect">
            <a:avLst>
              <a:gd name="adj" fmla="val 25000"/>
            </a:avLst>
          </a:prstGeom>
          <a:solidFill>
            <a:srgbClr val="EAF2EE"/>
          </a:solidFill>
          <a:ln w="12700">
            <a:solidFill>
              <a:srgbClr val="EAF2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9784" y="5047488"/>
            <a:ext cx="1728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23E33"/>
                </a:solidFill>
              </a:rPr>
              <a:t>Consortium delivery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7232904" y="4983480"/>
            <a:ext cx="1874520" cy="292608"/>
          </a:xfrm>
          <a:prstGeom prst="roundRect">
            <a:avLst>
              <a:gd name="adj" fmla="val 25000"/>
            </a:avLst>
          </a:prstGeom>
          <a:solidFill>
            <a:srgbClr val="FCE1D5"/>
          </a:solidFill>
          <a:ln w="12700">
            <a:solidFill>
              <a:srgbClr val="FCE1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06056" y="5047488"/>
            <a:ext cx="1728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23E33"/>
                </a:solidFill>
              </a:rPr>
              <a:t>Last-mile implementation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9409176" y="4983480"/>
            <a:ext cx="1874520" cy="292608"/>
          </a:xfrm>
          <a:prstGeom prst="roundRect">
            <a:avLst>
              <a:gd name="adj" fmla="val 25000"/>
            </a:avLst>
          </a:prstGeom>
          <a:solidFill>
            <a:srgbClr val="EAF2EE"/>
          </a:solidFill>
          <a:ln w="12700">
            <a:solidFill>
              <a:srgbClr val="EAF2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82328" y="5047488"/>
            <a:ext cx="1728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23E33"/>
                </a:solidFill>
              </a:rPr>
              <a:t>Diagnostic to conditional implementation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51560" y="58064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3E33"/>
                </a:solidFill>
              </a:rPr>
              <a:t>Participant capital, technical assistance, delivery, monitoring and any risk arrangement are separately specified and costed.</a:t>
            </a:r>
            <a:endParaRPr lang="en-US" sz="11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123E3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jifi_redesign_work/media/image6.jpeg"/>
          <p:cNvPicPr>
            <a:picLocks noChangeAspect="1"/>
          </p:cNvPicPr>
          <p:nvPr/>
        </p:nvPicPr>
        <p:blipFill>
          <a:blip r:embed="rId3"/>
          <a:srcRect l="22978" r="22978"/>
          <a:stretch/>
        </p:blipFill>
        <p:spPr>
          <a:xfrm>
            <a:off x="6629400" y="0"/>
            <a:ext cx="55595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29400" y="6601968"/>
            <a:ext cx="5559552" cy="256032"/>
          </a:xfrm>
          <a:prstGeom prst="rect">
            <a:avLst/>
          </a:prstGeom>
          <a:solidFill>
            <a:srgbClr val="0E493C">
              <a:alpha val="90000"/>
            </a:srgbClr>
          </a:solidFill>
          <a:ln w="12700">
            <a:solidFill>
              <a:srgbClr val="0E493C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720840" y="6684264"/>
            <a:ext cx="537667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" dirty="0">
                <a:solidFill>
                  <a:srgbClr val="FFFFFF"/>
                </a:solidFill>
              </a:rPr>
              <a:t>Jaza field engagement | Kenya, 2026</a:t>
            </a:r>
            <a:endParaRPr lang="en-US" sz="520" dirty="0"/>
          </a:p>
        </p:txBody>
      </p:sp>
      <p:sp>
        <p:nvSpPr>
          <p:cNvPr id="5" name="Shape 2"/>
          <p:cNvSpPr/>
          <p:nvPr/>
        </p:nvSpPr>
        <p:spPr>
          <a:xfrm>
            <a:off x="6629400" y="0"/>
            <a:ext cx="5559552" cy="6858000"/>
          </a:xfrm>
          <a:prstGeom prst="rect">
            <a:avLst/>
          </a:prstGeom>
          <a:solidFill>
            <a:srgbClr val="0E493C">
              <a:alpha val="70000"/>
            </a:srgbClr>
          </a:solidFill>
          <a:ln w="12700">
            <a:solidFill>
              <a:srgbClr val="0E493C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6858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DE1D6"/>
                </a:solidFill>
              </a:rPr>
              <a:t>JAZA INCLUSIVE FINANCE INITIATIVE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6928" y="1234440"/>
            <a:ext cx="5715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Define the development outcome.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Build the delivery pathway.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566928" y="278892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9E3"/>
                </a:solidFill>
              </a:rPr>
              <a:t>A focused design conversation starts with four questions: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3273552"/>
            <a:ext cx="256032" cy="256032"/>
          </a:xfrm>
          <a:prstGeom prst="ellipse">
            <a:avLst/>
          </a:prstGeom>
          <a:solidFill>
            <a:srgbClr val="2B6659"/>
          </a:solidFill>
          <a:ln w="12700">
            <a:solidFill>
              <a:srgbClr val="2B665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34670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051560" y="32644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What change should the programme produce?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3803904"/>
            <a:ext cx="256032" cy="256032"/>
          </a:xfrm>
          <a:prstGeom prst="ellipse">
            <a:avLst/>
          </a:prstGeom>
          <a:solidFill>
            <a:srgbClr val="2B6659"/>
          </a:solidFill>
          <a:ln w="12700">
            <a:solidFill>
              <a:srgbClr val="2B665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877056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1051560" y="3794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Who should benefit, and what barriers must be addressed?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" y="4334256"/>
            <a:ext cx="256032" cy="256032"/>
          </a:xfrm>
          <a:prstGeom prst="ellipse">
            <a:avLst/>
          </a:prstGeom>
          <a:solidFill>
            <a:srgbClr val="2B6659"/>
          </a:solidFill>
          <a:ln w="12700">
            <a:solidFill>
              <a:srgbClr val="2B665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4407408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1051560" y="43251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What capital, services and market relationships are required?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0080" y="4864608"/>
            <a:ext cx="256032" cy="256032"/>
          </a:xfrm>
          <a:prstGeom prst="ellipse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4937760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4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1051560" y="48554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What evidence will trigger adaptation, scale or transition?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66928" y="5715000"/>
            <a:ext cx="3566160" cy="292608"/>
          </a:xfrm>
          <a:prstGeom prst="roundRect">
            <a:avLst>
              <a:gd name="adj" fmla="val 25000"/>
            </a:avLst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5779008"/>
            <a:ext cx="3419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MANDATE-TO-DELIVERY DESIGN SESSION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15c0bf4-4fcf-490e-a436-5b2e5bba7512}" enabled="1" method="Standard" siteId="{d3a2d0d3-7cc8-4f52-bbf9-85bd43d9427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Jaza Capital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JIFI Development Delivery Capability 2026</dc:title>
  <dc:subject>JIFI development delivery capability</dc:subject>
  <dc:creator>Billy Msagha</dc:creator>
  <cp:lastModifiedBy>Daisy Ondimu</cp:lastModifiedBy>
  <cp:revision>3</cp:revision>
  <dcterms:created xsi:type="dcterms:W3CDTF">2026-09-10T15:02:23Z</dcterms:created>
  <dcterms:modified xsi:type="dcterms:W3CDTF">2026-09-10T15:19:02Z</dcterms:modified>
</cp:coreProperties>
</file>